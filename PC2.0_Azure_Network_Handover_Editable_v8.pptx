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f0bb5880164018" /><Relationship Type="http://schemas.openxmlformats.org/officeDocument/2006/relationships/extended-properties" Target="/docProps/app.xml" Id="Rd3971a8d83f7420f" /><Relationship Type="http://schemas.openxmlformats.org/officeDocument/2006/relationships/officeDocument" Target="/ppt/presentation.xml" Id="R92d5613db3204c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d7bf0a3cb54930"/>
  </p:sldMasterIdLst>
  <p:notesMasterIdLst>
    <p:notesMasterId xmlns:r="http://schemas.openxmlformats.org/officeDocument/2006/relationships" r:id="R00dacb6da01a47e0"/>
  </p:notesMasterIdLst>
  <p:sldIdLst>
    <p:sldId xmlns:r="http://schemas.openxmlformats.org/officeDocument/2006/relationships" id="256" r:id="R7dcb96cdf85c4754"/>
    <p:sldId xmlns:r="http://schemas.openxmlformats.org/officeDocument/2006/relationships" id="257" r:id="R503ac065fb194da9"/>
    <p:sldId xmlns:r="http://schemas.openxmlformats.org/officeDocument/2006/relationships" id="258" r:id="R238cf5cf154c41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580d48f5644cdd" /><Relationship Type="http://schemas.openxmlformats.org/officeDocument/2006/relationships/slideMaster" Target="/ppt/slideMasters/slideMaster1.xml" Id="R4ad7bf0a3cb54930" /><Relationship Type="http://schemas.openxmlformats.org/officeDocument/2006/relationships/notesMaster" Target="/ppt/notesMasters/notesMaster1.xml" Id="R00dacb6da01a47e0" /><Relationship Type="http://schemas.openxmlformats.org/officeDocument/2006/relationships/presProps" Target="/ppt/presProps.xml" Id="R0b8d14548a2c4f42" /><Relationship Type="http://schemas.openxmlformats.org/officeDocument/2006/relationships/tableStyles" Target="/ppt/tableStyles.xml" Id="R4e1fcf2a411b46c1" /><Relationship Type="http://schemas.openxmlformats.org/officeDocument/2006/relationships/slide" Target="/ppt/slides/slide1.xml" Id="R7dcb96cdf85c4754" /><Relationship Type="http://schemas.openxmlformats.org/officeDocument/2006/relationships/slide" Target="/ppt/slides/slide2.xml" Id="R503ac065fb194da9" /><Relationship Type="http://schemas.openxmlformats.org/officeDocument/2006/relationships/slide" Target="/ppt/slides/slide3.xml" Id="R238cf5cf154c41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47c6e5214f4f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2e36db11514010" /><Relationship Type="http://schemas.openxmlformats.org/officeDocument/2006/relationships/notesMaster" Target="/ppt/notesMasters/notesMaster1.xml" Id="R2ad2fc6a63c044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dc8740b19d4092" /><Relationship Type="http://schemas.openxmlformats.org/officeDocument/2006/relationships/notesMaster" Target="/ppt/notesMasters/notesMaster1.xml" Id="R972afdbcd2584c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c3584786674de5" /><Relationship Type="http://schemas.openxmlformats.org/officeDocument/2006/relationships/notesMaster" Target="/ppt/notesMasters/notesMaster1.xml" Id="R788aa78ff7e147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User-supplied reference image recreated as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User-supplied reference image recreated as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supplied Azure network reference was redrawn with individual editable frames, lines, labels, and icon image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e2f14622e48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81d3629b8344ed" /><Relationship Type="http://schemas.openxmlformats.org/officeDocument/2006/relationships/slideLayout" Target="/ppt/slideLayouts/slideLayout1.xml" Id="Ra8eae23832584a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eae23832584a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f201377bf40be" /><Relationship Type="http://schemas.openxmlformats.org/officeDocument/2006/relationships/image" Target="/ppt/media/image.png" Id="Rba1d858c1807412c" /><Relationship Type="http://schemas.openxmlformats.org/officeDocument/2006/relationships/image" Target="/ppt/media/image2.png" Id="R82b3c713af5f4a25" /><Relationship Type="http://schemas.openxmlformats.org/officeDocument/2006/relationships/image" Target="/ppt/media/image3.png" Id="R8b7c5e59598348f3" /><Relationship Type="http://schemas.openxmlformats.org/officeDocument/2006/relationships/image" Target="/ppt/media/image4.png" Id="R26430b341c194671" /><Relationship Type="http://schemas.openxmlformats.org/officeDocument/2006/relationships/image" Target="/ppt/media/image5.png" Id="Ra5038f4fe4664458" /><Relationship Type="http://schemas.openxmlformats.org/officeDocument/2006/relationships/image" Target="/ppt/media/image6.png" Id="R7b0472f4abcf48f2" /><Relationship Type="http://schemas.openxmlformats.org/officeDocument/2006/relationships/image" Target="/ppt/media/image7.png" Id="R212964fd14694023" /><Relationship Type="http://schemas.openxmlformats.org/officeDocument/2006/relationships/image" Target="/ppt/media/image8.png" Id="R5bc2b8fce88e4a41" /><Relationship Type="http://schemas.openxmlformats.org/officeDocument/2006/relationships/image" Target="/ppt/media/image9.png" Id="R651dcf5f8bd44997" /><Relationship Type="http://schemas.openxmlformats.org/officeDocument/2006/relationships/image" Target="/ppt/media/image10.png" Id="Rc2825af76c634cb5" /><Relationship Type="http://schemas.openxmlformats.org/officeDocument/2006/relationships/image" Target="/ppt/media/image11.png" Id="R55ce5ace99b54609" /><Relationship Type="http://schemas.openxmlformats.org/officeDocument/2006/relationships/image" Target="/ppt/media/image12.png" Id="R8f80b8bcc3fb40d9" /><Relationship Type="http://schemas.openxmlformats.org/officeDocument/2006/relationships/image" Target="/ppt/media/image13.png" Id="R75cc1e8d49fe413e" /><Relationship Type="http://schemas.openxmlformats.org/officeDocument/2006/relationships/image" Target="/ppt/media/image14.png" Id="R0f98d7d9e35a4659" /><Relationship Type="http://schemas.openxmlformats.org/officeDocument/2006/relationships/image" Target="/ppt/media/image15.png" Id="Rda84a14affef4bb7" /><Relationship Type="http://schemas.openxmlformats.org/officeDocument/2006/relationships/image" Target="/ppt/media/image16.png" Id="Rea8e58a911434205" /><Relationship Type="http://schemas.openxmlformats.org/officeDocument/2006/relationships/image" Target="/ppt/media/image17.png" Id="R54c2acf80acc484e" /><Relationship Type="http://schemas.openxmlformats.org/officeDocument/2006/relationships/notesSlide" Target="/ppt/notesSlides/notesSlide1.xml" Id="R7069b3c0428d4c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cf958c3134809" /><Relationship Type="http://schemas.openxmlformats.org/officeDocument/2006/relationships/notesSlide" Target="/ppt/notesSlides/notesSlide2.xml" Id="Rdb452b07ec4b42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542c4fc9641ab" /><Relationship Type="http://schemas.openxmlformats.org/officeDocument/2006/relationships/image" Target="/ppt/media/image18.png" Id="Rb3fd958993354276" /><Relationship Type="http://schemas.openxmlformats.org/officeDocument/2006/relationships/image" Target="/ppt/media/image19.png" Id="R1f0e0c1545a54312" /><Relationship Type="http://schemas.openxmlformats.org/officeDocument/2006/relationships/image" Target="/ppt/media/image20.png" Id="R038ddf0bf97a4cb9" /><Relationship Type="http://schemas.openxmlformats.org/officeDocument/2006/relationships/image" Target="/ppt/media/image21.png" Id="R51c368479c9b4ca1" /><Relationship Type="http://schemas.openxmlformats.org/officeDocument/2006/relationships/image" Target="/ppt/media/image.svg" Id="Red30d486d51b4d32" /><Relationship Type="http://schemas.openxmlformats.org/officeDocument/2006/relationships/image" Target="/ppt/media/image22.png" Id="Rde413fb2f534400c" /><Relationship Type="http://schemas.openxmlformats.org/officeDocument/2006/relationships/image" Target="/ppt/media/image2.svg" Id="R2c414a74b2754a08" /><Relationship Type="http://schemas.openxmlformats.org/officeDocument/2006/relationships/image" Target="/ppt/media/image23.png" Id="R80b8a93943564260" /><Relationship Type="http://schemas.openxmlformats.org/officeDocument/2006/relationships/image" Target="/ppt/media/image3.svg" Id="R21a7ed4938944590" /><Relationship Type="http://schemas.openxmlformats.org/officeDocument/2006/relationships/image" Target="/ppt/media/image24.png" Id="Rbe9df67afe9b4186" /><Relationship Type="http://schemas.openxmlformats.org/officeDocument/2006/relationships/image" Target="/ppt/media/image4.svg" Id="Rae04239f04dc4181" /><Relationship Type="http://schemas.openxmlformats.org/officeDocument/2006/relationships/image" Target="/ppt/media/image25.png" Id="R9655151085604ed9" /><Relationship Type="http://schemas.openxmlformats.org/officeDocument/2006/relationships/image" Target="/ppt/media/image5.svg" Id="R2f21088bb2df43a0" /><Relationship Type="http://schemas.openxmlformats.org/officeDocument/2006/relationships/image" Target="/ppt/media/image26.png" Id="R62a4190a41c84d4b" /><Relationship Type="http://schemas.openxmlformats.org/officeDocument/2006/relationships/image" Target="/ppt/media/image6.svg" Id="R92d15660f8f34c9c" /><Relationship Type="http://schemas.openxmlformats.org/officeDocument/2006/relationships/image" Target="/ppt/media/image27.png" Id="R9508bd31e5c549c7" /><Relationship Type="http://schemas.openxmlformats.org/officeDocument/2006/relationships/image" Target="/ppt/media/image7.svg" Id="Re0e0bf8f013b4acb" /><Relationship Type="http://schemas.openxmlformats.org/officeDocument/2006/relationships/image" Target="/ppt/media/image28.png" Id="R9add40d76116422a" /><Relationship Type="http://schemas.openxmlformats.org/officeDocument/2006/relationships/image" Target="/ppt/media/image8.svg" Id="Ra88f9730004a4a27" /><Relationship Type="http://schemas.openxmlformats.org/officeDocument/2006/relationships/image" Target="/ppt/media/image29.png" Id="R4c57a151409d4e1c" /><Relationship Type="http://schemas.openxmlformats.org/officeDocument/2006/relationships/image" Target="/ppt/media/image9.svg" Id="Raae6cc96fab9434c" /><Relationship Type="http://schemas.openxmlformats.org/officeDocument/2006/relationships/image" Target="/ppt/media/image30.png" Id="Rba22477835f94c8c" /><Relationship Type="http://schemas.openxmlformats.org/officeDocument/2006/relationships/image" Target="/ppt/media/image10.svg" Id="R6c053d4f3aad4cd9" /><Relationship Type="http://schemas.openxmlformats.org/officeDocument/2006/relationships/image" Target="/ppt/media/image31.png" Id="R595b06f5bf5f4eaa" /><Relationship Type="http://schemas.openxmlformats.org/officeDocument/2006/relationships/image" Target="/ppt/media/image11.svg" Id="R224917769cf34e19" /><Relationship Type="http://schemas.openxmlformats.org/officeDocument/2006/relationships/image" Target="/ppt/media/image32.png" Id="Re70594ced8234f5e" /><Relationship Type="http://schemas.openxmlformats.org/officeDocument/2006/relationships/image" Target="/ppt/media/image12.svg" Id="Rab1e7a0123f14714" /><Relationship Type="http://schemas.openxmlformats.org/officeDocument/2006/relationships/image" Target="/ppt/media/image33.png" Id="Rf20a69c626234c07" /><Relationship Type="http://schemas.openxmlformats.org/officeDocument/2006/relationships/image" Target="/ppt/media/image13.svg" Id="R470856757b014cce" /><Relationship Type="http://schemas.openxmlformats.org/officeDocument/2006/relationships/image" Target="/ppt/media/image34.png" Id="R060cb1f025a4481c" /><Relationship Type="http://schemas.openxmlformats.org/officeDocument/2006/relationships/image" Target="/ppt/media/image14.svg" Id="Re9057be9b735405a" /><Relationship Type="http://schemas.openxmlformats.org/officeDocument/2006/relationships/image" Target="/ppt/media/image35.png" Id="R0a66939216e64e7c" /><Relationship Type="http://schemas.openxmlformats.org/officeDocument/2006/relationships/image" Target="/ppt/media/image15.svg" Id="Rfb4adacf7b41428c" /><Relationship Type="http://schemas.openxmlformats.org/officeDocument/2006/relationships/image" Target="/ppt/media/image36.png" Id="Rc06a28c02bb94329" /><Relationship Type="http://schemas.openxmlformats.org/officeDocument/2006/relationships/image" Target="/ppt/media/image16.svg" Id="Rc72e3cc2d37e4a71" /><Relationship Type="http://schemas.openxmlformats.org/officeDocument/2006/relationships/image" Target="/ppt/media/image37.png" Id="Rb9aa4c63d5c24f5c" /><Relationship Type="http://schemas.openxmlformats.org/officeDocument/2006/relationships/image" Target="/ppt/media/image17.svg" Id="Re12430b30ced4519" /><Relationship Type="http://schemas.openxmlformats.org/officeDocument/2006/relationships/image" Target="/ppt/media/image38.png" Id="Rcc9315ab67fc421b" /><Relationship Type="http://schemas.openxmlformats.org/officeDocument/2006/relationships/image" Target="/ppt/media/image18.svg" Id="Reab07d8269394112" /><Relationship Type="http://schemas.openxmlformats.org/officeDocument/2006/relationships/image" Target="/ppt/media/image39.png" Id="R5b09a90af2244c8d" /><Relationship Type="http://schemas.openxmlformats.org/officeDocument/2006/relationships/image" Target="/ppt/media/image19.svg" Id="R004ca752ea5b4cfb" /><Relationship Type="http://schemas.openxmlformats.org/officeDocument/2006/relationships/image" Target="/ppt/media/image40.png" Id="Rd384ef2988964943" /><Relationship Type="http://schemas.openxmlformats.org/officeDocument/2006/relationships/image" Target="/ppt/media/image20.svg" Id="Rb94f048a247542b2" /><Relationship Type="http://schemas.openxmlformats.org/officeDocument/2006/relationships/image" Target="/ppt/media/image41.png" Id="Rbf006a2b7a1d4b30" /><Relationship Type="http://schemas.openxmlformats.org/officeDocument/2006/relationships/image" Target="/ppt/media/image21.svg" Id="R16668ac822e14557" /><Relationship Type="http://schemas.openxmlformats.org/officeDocument/2006/relationships/image" Target="/ppt/media/image42.png" Id="Rb8ac2406c38a44b7" /><Relationship Type="http://schemas.openxmlformats.org/officeDocument/2006/relationships/image" Target="/ppt/media/image22.svg" Id="R93eb62d8391744ea" /><Relationship Type="http://schemas.openxmlformats.org/officeDocument/2006/relationships/image" Target="/ppt/media/image43.png" Id="R01231ef5978d475a" /><Relationship Type="http://schemas.openxmlformats.org/officeDocument/2006/relationships/image" Target="/ppt/media/image23.svg" Id="R3b65a43e6d78491d" /><Relationship Type="http://schemas.openxmlformats.org/officeDocument/2006/relationships/image" Target="/ppt/media/image44.png" Id="Re5425921716142a8" /><Relationship Type="http://schemas.openxmlformats.org/officeDocument/2006/relationships/image" Target="/ppt/media/image24.svg" Id="R1bb266f36ef44ecd" /><Relationship Type="http://schemas.openxmlformats.org/officeDocument/2006/relationships/image" Target="/ppt/media/image45.png" Id="R06df23a63df24741" /><Relationship Type="http://schemas.openxmlformats.org/officeDocument/2006/relationships/image" Target="/ppt/media/image25.svg" Id="R6fe881b4aa05433f" /><Relationship Type="http://schemas.openxmlformats.org/officeDocument/2006/relationships/image" Target="/ppt/media/image46.png" Id="Re5adc8ad6c93457f" /><Relationship Type="http://schemas.openxmlformats.org/officeDocument/2006/relationships/image" Target="/ppt/media/image26.svg" Id="R5c53d404cafa4181" /><Relationship Type="http://schemas.openxmlformats.org/officeDocument/2006/relationships/image" Target="/ppt/media/image47.png" Id="R74a35476dc4f434d" /><Relationship Type="http://schemas.openxmlformats.org/officeDocument/2006/relationships/image" Target="/ppt/media/image48.png" Id="Rc772146f98594b3c" /><Relationship Type="http://schemas.openxmlformats.org/officeDocument/2006/relationships/image" Target="/ppt/media/image49.png" Id="R175c6fdee0304ccb" /><Relationship Type="http://schemas.openxmlformats.org/officeDocument/2006/relationships/image" Target="/ppt/media/image27.svg" Id="R0a898930ce604c22" /><Relationship Type="http://schemas.openxmlformats.org/officeDocument/2006/relationships/image" Target="/ppt/media/image50.png" Id="R4909147bbed94f49" /><Relationship Type="http://schemas.openxmlformats.org/officeDocument/2006/relationships/notesSlide" Target="/ppt/notesSlides/notesSlide3.xml" Id="R52de08bcb8254d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07FCD7E-64BE-4006-AA8E-07B578CD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solidFill>
              <a:srgbClr val="0057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2761B-68EF-4812-BC76-E9EF1E0A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PC2.0 Azureネットワーク構成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3F94A-E6E8-4535-B8C1-98EB4D99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PC2.0チームへの申請・確認対象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6FC58-FC8E-4798-9427-9F22C748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7C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5717C"/>
                </a:solidFill>
                <a:latin typeface="Yu Gothic"/>
                <a:ea typeface="Yu Gothic"/>
                <a:cs typeface="Yu Gothic"/>
              </a:rPr>
              <a:t>構成図上の対象箇所を1〜7で整理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584D8-A7CA-453C-8249-4EB1D9A7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17C"/>
                </a:solidFill>
                <a:latin typeface="Yu Gothic"/>
                <a:ea typeface="Yu Gothic"/>
                <a:cs typeface="Yu Gothic"/>
              </a:rPr>
              <a:t>GAM / ITOM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877B7-4F89-4973-8853-E2A55E9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9048750" cy="482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8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EE52C-08F4-4621-AEED-75C99D43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東日本リージョン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2AE9A-D246-4D1C-A6FB-79DD4CCA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81175"/>
            <a:ext cx="62865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EFE"/>
          </a:solidFill>
          <a:ln xmlns:a="http://schemas.openxmlformats.org/drawingml/2006/main" w="11430">
            <a:solidFill>
              <a:srgbClr val="6C7781"/>
            </a:solidFill>
            <a:prstDash val="dash"/>
          </a:ln>
        </p:spPr>
        <p:txBody>
          <a:bodyPr xmlns:a="http://schemas.openxmlformats.org/drawingml/2006/main" wrap="square" lIns="114300" tIns="5715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GAM Spoke  P5230-Spoke-Subscription001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F9EE2-D6DD-4D59-841C-9FA39E6E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9775"/>
            <a:ext cx="1000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7F3E8"/>
          </a:solidFill>
          <a:ln xmlns:a="http://schemas.openxmlformats.org/drawingml/2006/main" w="9525">
            <a:solidFill>
              <a:srgbClr val="8DAE94"/>
            </a:solidFill>
            <a:prstDash val="solid"/>
          </a:ln>
        </p:spPr>
        <p:txBody>
          <a:bodyPr xmlns:a="http://schemas.openxmlformats.org/drawingml/2006/main" wrap="square" lIns="27622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Microsoft Fabric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CB88D-E988-4269-B479-359DDE1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009775"/>
            <a:ext cx="828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F2F6"/>
          </a:solidFill>
          <a:ln xmlns:a="http://schemas.openxmlformats.org/drawingml/2006/main" w="9525">
            <a:solidFill>
              <a:srgbClr val="8F9CAB"/>
            </a:solidFill>
            <a:prstDash val="solid"/>
          </a:ln>
        </p:spPr>
        <p:txBody>
          <a:bodyPr xmlns:a="http://schemas.openxmlformats.org/drawingml/2006/main" wrap="square" lIns="2571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Data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7DAC2-066A-44C8-9A98-EB1C0608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9775"/>
            <a:ext cx="819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CFB"/>
          </a:solidFill>
          <a:ln xmlns:a="http://schemas.openxmlformats.org/drawingml/2006/main" w="9525">
            <a:solidFill>
              <a:srgbClr val="7098C2"/>
            </a:solidFill>
            <a:prstDash val="solid"/>
          </a:ln>
        </p:spPr>
        <p:txBody>
          <a:bodyPr xmlns:a="http://schemas.openxmlformats.org/drawingml/2006/main" wrap="square" lIns="266700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One Lake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B3DB1-8C7B-4F42-AB7C-7A20A62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1000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6F0F8"/>
          </a:solidFill>
          <a:ln xmlns:a="http://schemas.openxmlformats.org/drawingml/2006/main" w="9525">
            <a:solidFill>
              <a:srgbClr val="7098C2"/>
            </a:solidFill>
            <a:prstDash val="solid"/>
          </a:ln>
        </p:spPr>
        <p:txBody>
          <a:bodyPr xmlns:a="http://schemas.openxmlformats.org/drawingml/2006/main" wrap="square" lIns="2952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Azure Translator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d858c1807412c"/>
          <a:stretch xmlns:a="http://schemas.openxmlformats.org/drawingml/2006/main"/>
        </p:blipFill>
        <p:spPr>
          <a:xfrm xmlns:a="http://schemas.openxmlformats.org/drawingml/2006/main">
            <a:off x="2933700" y="20478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3c713af5f4a25"/>
          <a:stretch xmlns:a="http://schemas.openxmlformats.org/drawingml/2006/main"/>
        </p:blipFill>
        <p:spPr>
          <a:xfrm xmlns:a="http://schemas.openxmlformats.org/drawingml/2006/main">
            <a:off x="4099905" y="2038350"/>
            <a:ext cx="191716" cy="209550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c5e59598348f3"/>
          <a:stretch xmlns:a="http://schemas.openxmlformats.org/drawingml/2006/main"/>
        </p:blipFill>
        <p:spPr>
          <a:xfrm xmlns:a="http://schemas.openxmlformats.org/drawingml/2006/main">
            <a:off x="5082841" y="2038350"/>
            <a:ext cx="207043" cy="20002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30b341c194671"/>
          <a:stretch xmlns:a="http://schemas.openxmlformats.org/drawingml/2006/main"/>
        </p:blipFill>
        <p:spPr>
          <a:xfrm xmlns:a="http://schemas.openxmlformats.org/drawingml/2006/main">
            <a:off x="6153150" y="2033215"/>
            <a:ext cx="219075" cy="22934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277EB-C641-4A30-8F94-33C7FC92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95475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8790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ServiceNow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C4955-071C-4EB9-8BC2-29FDB825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66950"/>
            <a:ext cx="619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A4ADB5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92623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ImportSet</a:t>
            </a:r>
          </a:p>
          <a:p xmlns:a="http://schemas.openxmlformats.org/drawingml/2006/main">
            <a:pPr algn="ctr">
              <a:defRPr sz="8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Table</a:t>
            </a:r>
          </a:p>
        </p:txBody>
      </p:sp>
      <p:cxnSp>
        <p:nvCxnSpPr>
          <p:cNvPr id="10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57625" y="2190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sm" len="sm"/>
          </a:ln>
        </p:spPr>
      </p:cxnSp>
      <p:cxnSp>
        <p:nvCxnSpPr>
          <p:cNvPr id="10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57750" y="21907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sm" len="sm"/>
          </a:ln>
        </p:spPr>
      </p:cxnSp>
      <p:cxnSp>
        <p:nvCxnSpPr>
          <p:cNvPr id="10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29300" y="2190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sm" len="sm"/>
          </a:ln>
        </p:spPr>
      </p:cxnSp>
      <p:cxnSp>
        <p:nvCxnSpPr>
          <p:cNvPr id="108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2190750"/>
            <a:ext cx="600075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5B25C5-A7FD-481D-8481-F051E5B3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9080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7D8790"/>
            </a:solidFill>
            <a:prstDash val="solid"/>
          </a:ln>
        </p:spPr>
        <p:txBody>
          <a:bodyPr xmlns:a="http://schemas.openxmlformats.org/drawingml/2006/main" wrap="square" lIns="1143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P5230-Spoke-VNET001   10.173.47.0/24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29319-8158-415B-B382-AD5959E5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5275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7D8790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Bastion Subnet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B88CC-98BF-4031-843C-6AB379E3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81375"/>
            <a:ext cx="1285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83909A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Subnet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10.173.47.0/27  GWAN接続用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4B7B4-37C6-4C21-BD37-351C6866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81375"/>
            <a:ext cx="14573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83909A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Subnet for</a:t>
            </a:r>
          </a:p>
          <a:p xmlns:a="http://schemas.openxmlformats.org/drawingml/2006/main">
            <a:pPr algn="ctr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Microsoft Fabric GWAN接続用</a:t>
            </a:r>
          </a:p>
          <a:p xmlns:a="http://schemas.openxmlformats.org/drawingml/2006/main">
            <a:pPr algn="ctr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10.173.47.224/27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7D8FF8-4847-4CA5-9F3E-E50F14D9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32422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7897B4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Subnet for MID Server</a:t>
            </a:r>
          </a:p>
          <a:p xmlns:a="http://schemas.openxmlformats.org/drawingml/2006/main">
            <a:pPr algn="ctr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10.173.47.176/28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MID Server</a:t>
            </a:r>
          </a:p>
          <a:p xmlns:a="http://schemas.openxmlformats.org/drawingml/2006/main">
            <a:pPr algn="ctr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Windows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198AB8-DAE6-4EDF-8B00-1FD80693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32422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7897B4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Subnet for MID Server</a:t>
            </a:r>
          </a:p>
          <a:p xmlns:a="http://schemas.openxmlformats.org/drawingml/2006/main">
            <a:pPr algn="ctr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10.173.47.192/28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MID Server</a:t>
            </a:r>
          </a:p>
          <a:p xmlns:a="http://schemas.openxmlformats.org/drawingml/2006/main">
            <a:pPr algn="ctr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Linux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01CBE-698A-46CF-B251-C36183B4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32422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7897B4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Subnet for MID Server</a:t>
            </a:r>
          </a:p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10.173.47.208/28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MID Server</a:t>
            </a:r>
          </a:p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Linux / Windows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BF2C21-38AC-428C-8123-41C0D934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48175"/>
            <a:ext cx="74295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8D8D8"/>
          </a:solidFill>
          <a:ln xmlns:a="http://schemas.openxmlformats.org/drawingml/2006/main" w="9525">
            <a:solidFill>
              <a:srgbClr val="B86C6C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Firewall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8607C6-53DC-4AEE-99D4-CE5A92DC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43350"/>
            <a:ext cx="714375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7897B4"/>
            </a:solidFill>
            <a:prstDash val="solid"/>
          </a:ln>
        </p:spPr>
        <p:txBody>
          <a:bodyPr xmlns:a="http://schemas.openxmlformats.org/drawingml/2006/main" wrap="square" lIns="228600" tIns="19050" rIns="28575" bIns="19050" anchor="ctr">
            <a:normAutofit fontScale="93861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FTP Server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55BD94-EAA4-468C-8D4E-65D4FF22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33825"/>
            <a:ext cx="8572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D28A00"/>
            </a:solidFill>
            <a:prstDash val="solid"/>
          </a:ln>
        </p:spPr>
        <p:txBody>
          <a:bodyPr xmlns:a="http://schemas.openxmlformats.org/drawingml/2006/main" wrap="square" lIns="219075" tIns="19050" rIns="28575" bIns="19050" anchor="ctr">
            <a:normAutofit fontScale="97469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Endpoint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38f4fe4664458"/>
          <a:stretch xmlns:a="http://schemas.openxmlformats.org/drawingml/2006/main"/>
        </p:blipFill>
        <p:spPr>
          <a:xfrm xmlns:a="http://schemas.openxmlformats.org/drawingml/2006/main">
            <a:off x="3146326" y="3962400"/>
            <a:ext cx="165298" cy="161925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472f4abcf48f2"/>
          <a:stretch xmlns:a="http://schemas.openxmlformats.org/drawingml/2006/main"/>
        </p:blipFill>
        <p:spPr>
          <a:xfrm xmlns:a="http://schemas.openxmlformats.org/drawingml/2006/main">
            <a:off x="4536839" y="3962400"/>
            <a:ext cx="175098" cy="1714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DCCCBD-C036-47D8-A890-F0E9664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4953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7897B4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75526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NIC / NSG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805A75-2676-4161-8B3D-88BE6C8B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52875"/>
            <a:ext cx="4953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7897B4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75526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NIC / NSG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AE1181-A47A-4E70-8B1B-281AE1AF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52875"/>
            <a:ext cx="4953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7897B4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75526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NIC / NSG</a:t>
            </a:r>
          </a:p>
        </p:txBody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964fd14694023"/>
          <a:stretch xmlns:a="http://schemas.openxmlformats.org/drawingml/2006/main"/>
        </p:blipFill>
        <p:spPr>
          <a:xfrm xmlns:a="http://schemas.openxmlformats.org/drawingml/2006/main">
            <a:off x="6089055" y="3552825"/>
            <a:ext cx="213916" cy="209550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2b8fce88e4a41"/>
          <a:stretch xmlns:a="http://schemas.openxmlformats.org/drawingml/2006/main"/>
        </p:blipFill>
        <p:spPr>
          <a:xfrm xmlns:a="http://schemas.openxmlformats.org/drawingml/2006/main">
            <a:off x="7174905" y="3552825"/>
            <a:ext cx="213916" cy="209550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dcf5f8bd44997"/>
          <a:stretch xmlns:a="http://schemas.openxmlformats.org/drawingml/2006/main"/>
        </p:blipFill>
        <p:spPr>
          <a:xfrm xmlns:a="http://schemas.openxmlformats.org/drawingml/2006/main">
            <a:off x="8260755" y="3552825"/>
            <a:ext cx="213916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8C7C20-846F-445F-8658-F05DCD5D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5300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727C85"/>
            </a:solidFill>
            <a:prstDash val="solid"/>
          </a:ln>
        </p:spPr>
        <p:txBody>
          <a:bodyPr xmlns:a="http://schemas.openxmlformats.org/drawingml/2006/main" wrap="square" lIns="95250" tIns="57150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HSMS Spoke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HSMS DB Server    HSMS FTP Server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7EB1D6-B7F8-4DA2-886F-09EA5073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727C85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HUB環境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Firewall     Gateway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685348-05C0-4687-836E-59652A30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727C85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GWAN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Gateway   Firewall   Intranet</a:t>
            </a:r>
          </a:p>
        </p:txBody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25af76c634cb5"/>
          <a:stretch xmlns:a="http://schemas.openxmlformats.org/drawingml/2006/main"/>
        </p:blipFill>
        <p:spPr>
          <a:xfrm xmlns:a="http://schemas.openxmlformats.org/drawingml/2006/main">
            <a:off x="5429845" y="5219700"/>
            <a:ext cx="217884" cy="228600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e5ace99b54609"/>
          <a:stretch xmlns:a="http://schemas.openxmlformats.org/drawingml/2006/main"/>
        </p:blipFill>
        <p:spPr>
          <a:xfrm xmlns:a="http://schemas.openxmlformats.org/drawingml/2006/main">
            <a:off x="6027148" y="5191125"/>
            <a:ext cx="242479" cy="25717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0b8bcc3fb40d9"/>
          <a:stretch xmlns:a="http://schemas.openxmlformats.org/drawingml/2006/main"/>
        </p:blipFill>
        <p:spPr>
          <a:xfrm xmlns:a="http://schemas.openxmlformats.org/drawingml/2006/main">
            <a:off x="7732123" y="5191125"/>
            <a:ext cx="242479" cy="25717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c1e8d49fe413e"/>
          <a:stretch xmlns:a="http://schemas.openxmlformats.org/drawingml/2006/main"/>
        </p:blipFill>
        <p:spPr>
          <a:xfrm xmlns:a="http://schemas.openxmlformats.org/drawingml/2006/main">
            <a:off x="8268295" y="5219700"/>
            <a:ext cx="217884" cy="228600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8d7d9e35a4659"/>
          <a:stretch xmlns:a="http://schemas.openxmlformats.org/drawingml/2006/main"/>
        </p:blipFill>
        <p:spPr>
          <a:xfrm xmlns:a="http://schemas.openxmlformats.org/drawingml/2006/main">
            <a:off x="8848725" y="5198864"/>
            <a:ext cx="171450" cy="232172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4a14affef4bb7"/>
          <a:stretch xmlns:a="http://schemas.openxmlformats.org/drawingml/2006/main"/>
        </p:blipFill>
        <p:spPr>
          <a:xfrm xmlns:a="http://schemas.openxmlformats.org/drawingml/2006/main">
            <a:off x="6938963" y="5381625"/>
            <a:ext cx="200025" cy="209550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e58a911434205"/>
          <a:stretch xmlns:a="http://schemas.openxmlformats.org/drawingml/2006/main"/>
        </p:blipFill>
        <p:spPr>
          <a:xfrm xmlns:a="http://schemas.openxmlformats.org/drawingml/2006/main">
            <a:off x="8021426" y="5695950"/>
            <a:ext cx="311573" cy="304800"/>
          </a:xfrm>
          <a:prstGeom xmlns:a="http://schemas.openxmlformats.org/drawingml/2006/main" prst="rect">
            <a:avLst/>
          </a:prstGeom>
        </p:spPr>
      </p:pic>
      <p:cxnSp>
        <p:nvCxnSpPr>
          <p:cNvPr id="13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4905375" y="52863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B5563"/>
            </a:solidFill>
            <a:prstDash val="solid"/>
            <a:tailEnd type="arrow" w="sm" len="sm"/>
          </a:ln>
        </p:spPr>
      </p:cxnSp>
      <p:cxnSp>
        <p:nvCxnSpPr>
          <p:cNvPr id="138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6905625" y="52863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B5563"/>
            </a:solidFill>
            <a:prstDash val="solid"/>
            <a:tailEnd type="arrow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8A6A17-72DB-4084-9251-A8D9C6AE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76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3A62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43A62"/>
                </a:solidFill>
                <a:latin typeface="Yu Gothic"/>
                <a:ea typeface="Yu Gothic"/>
                <a:cs typeface="Yu Gothic"/>
              </a:rPr>
              <a:t>Express Route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57EB75-C27C-4ECA-A4AD-5A3E6F18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959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3A62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43A62"/>
                </a:solidFill>
                <a:latin typeface="Yu Gothic"/>
                <a:ea typeface="Yu Gothic"/>
                <a:cs typeface="Yu Gothic"/>
              </a:rPr>
              <a:t>Azure PC2.0環境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62D2C6-EC24-46E0-AC54-D2EE3F9C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7212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43A62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2acf80acc484e"/>
          <a:stretch xmlns:a="http://schemas.openxmlformats.org/drawingml/2006/main"/>
        </p:blipFill>
        <p:spPr>
          <a:xfrm xmlns:a="http://schemas.openxmlformats.org/drawingml/2006/main">
            <a:off x="457200" y="1497852"/>
            <a:ext cx="9048750" cy="4852896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DD8166-B908-4169-B5BA-2DA10540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43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0273F3-F6F1-4ACC-BF68-6DCA5536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76200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[PC2.0申請対象]</a:t>
            </a:r>
          </a:p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VNet／Subnetの新規作成・追加・変更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2A57D6-FA4C-410B-B82C-41C5704C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19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875DC2-9DE6-4D09-B772-49F2AD3A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52925"/>
            <a:ext cx="18573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76200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[PC2.0申請対象]</a:t>
            </a:r>
          </a:p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Subnet単位NSGの許可追加・変更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E31D34-D00E-477C-85B7-1F179F89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895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252383-79D5-4D78-82D6-AC7497BF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82930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76200" tIns="38100" rIns="47625" bIns="28575" anchor="ctr">
            <a:normAutofit fontScale="86555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[PC2.0申請対象]</a:t>
            </a:r>
          </a:p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Azure接続、Gateway、ExpressRouteおよびRoute設定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82150C-8A58-4BF9-8569-D648FA4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19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35A8"/>
          </a:solidFill>
          <a:ln xmlns:a="http://schemas.openxmlformats.org/drawingml/2006/main" w="0">
            <a:solidFill>
              <a:srgbClr val="4B35A8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F6A8A7-E5A7-4B95-8B56-A63F018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1905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B35A8"/>
            </a:solidFill>
            <a:prstDash val="solid"/>
          </a:ln>
        </p:spPr>
        <p:txBody>
          <a:bodyPr xmlns:a="http://schemas.openxmlformats.org/drawingml/2006/main" wrap="square" lIns="76200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[PC2.0申請対象]</a:t>
            </a:r>
          </a:p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NGFW／Firewallの通信許可</a:t>
            </a:r>
          </a:p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（他Spoke／GWAN）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4BFA08-EC1A-439F-8AFB-B878ACDA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52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D28A00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6FD2AD-9442-49F9-BACB-0FD7F748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180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28A00"/>
            </a:solidFill>
            <a:prstDash val="solid"/>
          </a:ln>
        </p:spPr>
        <p:txBody>
          <a:bodyPr xmlns:a="http://schemas.openxmlformats.org/drawingml/2006/main" wrap="square" lIns="76200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[PC2.0申請対象]</a:t>
            </a:r>
          </a:p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Endpoint、Subnet PolicyおよびDNS設定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CA81CC-6A25-4657-BCD0-05E745FD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727F2E-4FBC-4DD2-B1D9-4B070A24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1952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76200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[PC2.0申請対象]</a:t>
            </a:r>
          </a:p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ServiceNowへのURL Filter／Internet Outbound許可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F4DA9F-A6D0-4E5D-83B2-E1D5A44A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819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B"/>
          </a:solidFill>
          <a:ln xmlns:a="http://schemas.openxmlformats.org/drawingml/2006/main" w="0">
            <a:solidFill>
              <a:srgbClr val="087A4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08B9035-47E2-45A2-A92E-F3753B53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53100"/>
            <a:ext cx="1762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87A4B"/>
            </a:solidFill>
            <a:prstDash val="solid"/>
          </a:ln>
        </p:spPr>
        <p:txBody>
          <a:bodyPr xmlns:a="http://schemas.openxmlformats.org/drawingml/2006/main" wrap="square" lIns="76200" tIns="38100" rIns="47625" bIns="28575" anchor="ctr">
            <a:normAutofit fontScale="8815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[PC2.0申請対象]</a:t>
            </a:r>
          </a:p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Service PrincipalへのAzure RBACロール付与</a:t>
            </a:r>
          </a:p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（Reader）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128188-6DE0-449C-8908-253DED2C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9542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8AAFCF"/>
            </a:solidFill>
            <a:prstDash val="solid"/>
          </a:ln>
        </p:spPr>
        <p:txBody>
          <a:bodyPr xmlns:a="http://schemas.openxmlformats.org/drawingml/2006/main" wrap="square" lIns="95250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3A6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143A62"/>
                </a:solidFill>
                <a:latin typeface="Yu Gothic"/>
                <a:ea typeface="Yu Gothic"/>
                <a:cs typeface="Yu Gothic"/>
              </a:rPr>
              <a:t>申請・確認対象の凡例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8E5701-D6AF-4A1C-952D-C0C9174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57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412FDE-6190-4ED1-A3F3-16A390D3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8478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VNet／Subnet作成・変更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73636A-7736-45B4-8797-3E1CCFF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A73260-AED2-479F-9A38-449FD82A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955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Subnet単位NSGの許可追加・変更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EBD168F-3996-4AF5-9703-4D571EFB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52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5C70BB6-E66D-4C92-AC5F-1FE17D1B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432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Hub接続、Gateway、ExpressRoute、Route設定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3C37467-098F-480F-BF61-63759E36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00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35A8"/>
          </a:solidFill>
          <a:ln xmlns:a="http://schemas.openxmlformats.org/drawingml/2006/main" w="0">
            <a:solidFill>
              <a:srgbClr val="4B35A8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EA1E40C-D218-48B0-A4C2-2C1350D5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908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NGFW／Firewall通信許可（他Spoke／GWAN）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C88CAC6-2679-4549-9CBA-B9BF54E7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48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D28A00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79EF0D1-0EFE-4812-82B0-B85C622B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385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Endpoint、Subnet Policy、DNS設定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1AC3F06-D30F-4ECB-992C-B753977B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92F415-2078-4079-8346-11E8F27D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0862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URL Filter／Internet Outbound許可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530AA08-55BE-44B8-8F4A-105B449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43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B"/>
          </a:solidFill>
          <a:ln xmlns:a="http://schemas.openxmlformats.org/drawingml/2006/main" w="0">
            <a:solidFill>
              <a:srgbClr val="087A4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0F81228-0BB4-4F86-BE76-C1BC508F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339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Service PrincipalへのAzure RBACロール付与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F027C8-356B-414E-B304-92A6CBE0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885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5BEC6"/>
            </a:solidFill>
            <a:prstDash val="solid"/>
          </a:ln>
        </p:spPr>
        <p:txBody>
          <a:bodyPr xmlns:a="http://schemas.openxmlformats.org/drawingml/2006/main" wrap="square" lIns="762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※ VM、Disk、NIC、NIC単位NSG、VM内Firewall設定、アプリケーション設定などは、</a:t>
            </a:r>
          </a:p>
          <a:p xmlns:a="http://schemas.openxmlformats.org/drawingml/2006/main">
            <a:pPr algn="l">
              <a:def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   PC2.0提供済み環境・付与済み権限の範囲内でGAM側が対応する。</a:t>
            </a:r>
          </a:p>
        </p:txBody>
      </p:sp>
    </p:spTree>
    <p:extLst>
      <p:ext uri="{BB962C8B-B14F-4D97-AF65-F5344CB8AC3E}">
        <p14:creationId xmlns:p14="http://schemas.microsoft.com/office/powerpoint/2010/main" val="201694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1F63A6-ACFC-4191-812D-9E42EADA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solidFill>
              <a:srgbClr val="0057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9C042-3593-4E73-B90D-7863EB38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PC2.0 Azureネットワーク構成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59D3B-F61F-4730-98A2-E0BFFB1A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申請・確認対象一覧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FB86F-E4D0-469D-A02F-30FFD57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7C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5717C"/>
                </a:solidFill>
                <a:latin typeface="Yu Gothic"/>
                <a:ea typeface="Yu Gothic"/>
                <a:cs typeface="Yu Gothic"/>
              </a:rPr>
              <a:t>構成図の番号に対応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4E32E-CB41-401C-AE58-3C7E9A3D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17C"/>
                </a:solidFill>
                <a:latin typeface="Yu Gothic"/>
                <a:ea typeface="Yu Gothic"/>
                <a:cs typeface="Yu Gothic"/>
              </a:rPr>
              <a:t>GAM / ITOM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326EB-A0CC-4647-9BCD-88E25D4A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47825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3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462E2-7A8A-470D-9F80-24E3E4B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19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7BDB2-F3FE-4FD3-8333-8282A40B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7907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rPr>
              <a:t>VNet／Subnetの作成・変更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799A9-5E4F-457A-9748-86D78D54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336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rPr>
              <a:t>新規作成、追加、CIDR・用途変更を含む。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9FFD9-3E7E-4B4A-98BC-0DBFA811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1940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3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2587C-BAC2-4A13-8D5D-B160A364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90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AD3C3-A806-4AD9-A1C4-CA6EE913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62275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rPr>
              <a:t>Subnet単位NSGの許可追加・変更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C7250-23D0-47CD-BDCA-F3E2C432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305175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rPr>
              <a:t>Source、Destination、Direction、Protocol、Port、Purposeを整理して申請。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35EBB-C24F-4182-9BDE-272C2AB3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90975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3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ADE2E-B375-4ED3-B4A8-1AEE5A04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62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C0A76-D824-42CD-A32A-27B2D8D7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1338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rPr>
              <a:t>Hub接続、Gateway、ExpressRoute、Route設定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23622-A2B1-475D-B09C-6C679C17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7675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rPr>
              <a:t>Hub接続、経路制御、戻りRouteを含む。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AF5ED-2C5E-44F8-8E0D-CE7E8958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3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23F58-D32F-4EF4-89C2-9FE9EA3D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35A8"/>
          </a:solidFill>
          <a:ln xmlns:a="http://schemas.openxmlformats.org/drawingml/2006/main" w="0">
            <a:solidFill>
              <a:srgbClr val="4B35A8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1D668-1405-4CDD-91B2-C0326A1A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305425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rPr>
              <a:t>NGFW／Firewallの通信許可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172EE-3429-41EC-A073-3242063E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648325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rPr>
              <a:t>Azure－他Spoke間、Azure－GWAN／Intranet間の通信ルール。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67D5C-3D71-4DE6-BC92-9A6D4E83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47825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3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13C92B-1BFA-4ECC-9EBE-647BF870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19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D28A00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F19A5-9369-478C-8224-4FBD5FE7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907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rPr>
              <a:t>Private Endpoint、Subnet Policy、DNS設定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BE10D4-40E4-4467-AEDE-0A0B6170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1336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rPr>
              <a:t>Private Endpoint用Subnet、名前解決、関連Policyの確認。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ADE6B-E110-4090-8296-3CDC9BAF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1940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3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52DBC-C453-4342-BB6B-A471460C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90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2B"/>
          </a:solidFill>
          <a:ln xmlns:a="http://schemas.openxmlformats.org/drawingml/2006/main" w="0">
            <a:solidFill>
              <a:srgbClr val="B91C2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942DA-174A-4BFD-A1A2-8E062A8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62275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rPr>
              <a:t>URL Filter／Internet Outbound許可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C54E92-4A44-4C04-A4A5-FF1164C7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305175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rPr>
              <a:t>ServiceNow等の外部FQDNへの通信許可。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2DA2C3-7B44-4B71-BA08-540CEECC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90975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3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C5CB7E-DC4B-4454-ACBA-5E3BCFF7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62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B"/>
          </a:solidFill>
          <a:ln xmlns:a="http://schemas.openxmlformats.org/drawingml/2006/main" w="0">
            <a:solidFill>
              <a:srgbClr val="087A4B"/>
            </a:solidFill>
            <a:prstDash val="solid"/>
          </a:ln>
        </p:spPr>
        <p:txBody>
          <a:bodyPr xmlns:a="http://schemas.openxmlformats.org/drawingml/2006/main" wrap="square" lIns="66675" tIns="28575" rIns="66675" bIns="28575" anchor="ctr">
            <a:normAutofit fontScale="842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ED478F-00E4-40BA-8F75-FB0F130C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338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02830"/>
                </a:solidFill>
                <a:latin typeface="Yu Gothic"/>
                <a:ea typeface="Yu Gothic"/>
                <a:cs typeface="Yu Gothic"/>
              </a:rPr>
              <a:t>Service PrincipalへのAzure RBACロール付与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1BD7B3-34B0-42C6-A26E-94A86E90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47675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4F5A63"/>
                </a:solidFill>
                <a:latin typeface="Yu Gothic"/>
                <a:ea typeface="Yu Gothic"/>
                <a:cs typeface="Yu Gothic"/>
              </a:rPr>
              <a:t>対象SubscriptionへのReaderロール付与。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18AAB7-79BF-4CDA-83FE-DEF60ABB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34000"/>
            <a:ext cx="514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76A5C9"/>
            </a:solidFill>
            <a:prstDash val="solid"/>
          </a:ln>
        </p:spPr>
        <p:txBody>
          <a:bodyPr xmlns:a="http://schemas.openxmlformats.org/drawingml/2006/main" wrap="square" lIns="152400" tIns="104775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6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3A62"/>
                </a:solidFill>
                <a:latin typeface="Yu Gothic"/>
                <a:ea typeface="Yu Gothic"/>
                <a:cs typeface="Yu Gothic"/>
              </a:rPr>
              <a:t>GAM側で対応する範囲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73D25B-084E-4F1A-879D-BE3C2FE8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769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VM、Disk、NIC、NIC単位NSG、VM内Firewall設定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※ PC2.0提供済み環境・付与済み権限の範囲内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AB1AD0-CD1D-4154-B333-12F671B2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[Sources]</a:t>
            </a:r>
          </a:p>
        </p:txBody>
      </p:sp>
    </p:spTree>
    <p:extLst>
      <p:ext uri="{BB962C8B-B14F-4D97-AF65-F5344CB8AC3E}">
        <p14:creationId xmlns:p14="http://schemas.microsoft.com/office/powerpoint/2010/main" val="15011263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9EBAEFC-D9FE-4738-B107-BED0CB71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solidFill>
              <a:srgbClr val="0057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08AF0-7B01-4F8B-BB01-F395E6FE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PC2.0 Azureネットワーク構成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53F58-6FEB-4BB6-97C1-11F4A0A5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Azureネットワーク構成（編集可能）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E3CE0-23D7-4FC8-8E63-FF0003C2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7C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5717C"/>
                </a:solidFill>
                <a:latin typeface="Yu Gothic"/>
                <a:ea typeface="Yu Gothic"/>
                <a:cs typeface="Yu Gothic"/>
              </a:rPr>
              <a:t>線、枠、ラベル、アイコンを個別に編集可能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5B6D6-ABFC-47D4-B487-49F2F370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17C"/>
                </a:solidFill>
                <a:latin typeface="Yu Gothic"/>
                <a:ea typeface="Yu Gothic"/>
                <a:cs typeface="Yu Gothic"/>
              </a:rPr>
              <a:t>GAM / ITOM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9925D-0021-45B8-9D74-BDAE287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906780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7E2B2-3803-424F-ABC0-339DBED7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東日本リージョン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D171E-A139-4D34-B665-48ED5A3A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6743700" cy="368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85703-5FBD-45D4-B7BB-7CB9B6AC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GAM Spoke P5230-Spoke-Subscription001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C7E66-BF0A-4C5D-990B-6F8456AC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24025"/>
            <a:ext cx="3981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BF2D3-4516-40EE-ADE9-E1363DA5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76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servicenow.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83F73-2807-44D9-AEB9-73FEAE0D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1452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dash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d958993354276"/>
          <a:stretch xmlns:a="http://schemas.openxmlformats.org/drawingml/2006/main"/>
        </p:blipFill>
        <p:spPr>
          <a:xfrm xmlns:a="http://schemas.openxmlformats.org/drawingml/2006/main">
            <a:off x="1081088" y="20097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DC0C0-6808-4BAE-96AD-2C6638BC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05050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Microsoft Fabric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e0c1545a54312"/>
          <a:stretch xmlns:a="http://schemas.openxmlformats.org/drawingml/2006/main"/>
        </p:blipFill>
        <p:spPr>
          <a:xfrm xmlns:a="http://schemas.openxmlformats.org/drawingml/2006/main">
            <a:off x="2050915" y="2009775"/>
            <a:ext cx="270145" cy="2952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3397E-0518-45B5-8988-049D68D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305050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Data Flow</a:t>
            </a:r>
          </a:p>
        </p:txBody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ddf0bf97a4cb9"/>
          <a:stretch xmlns:a="http://schemas.openxmlformats.org/drawingml/2006/main"/>
        </p:blipFill>
        <p:spPr>
          <a:xfrm xmlns:a="http://schemas.openxmlformats.org/drawingml/2006/main">
            <a:off x="2927517" y="1981200"/>
            <a:ext cx="364791" cy="3524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20FFC-EFFD-485D-AA97-EEFAE692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523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One Lake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99A16-DB22-42C3-A9D2-50C4ECC3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5265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D66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171D2-6F25-4DEE-A2C6-3AE9231E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7165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368479c9b4ca1">
            <a:extLst>
              <a:ext uri="{96DAC541-7B7A-43D3-8B79-37D633B846F1}">
                <asvg:svgBlip xmlns:asvg="http://schemas.microsoft.com/office/drawing/2016/SVG/main" r:embed="Red30d486d51b4d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0" y="1819275"/>
            <a:ext cx="333375" cy="3524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E98CF-6802-4262-9C83-DFBF9089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71700"/>
            <a:ext cx="1162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Azure Translator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715C43-B179-4D79-8152-62035B1D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38325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Integration HUB</a:t>
            </a:r>
          </a:p>
          <a:p xmlns:a="http://schemas.openxmlformats.org/drawingml/2006/main">
            <a:pPr algn="ctr">
              <a:def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Azure Translator Spoke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ECCBA-C4BB-4197-A1ED-E03601C8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977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5D66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001D6-0D5F-4BAA-8260-11984531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52650"/>
            <a:ext cx="229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D66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68E90-C7E6-4E82-8791-F51CD69F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15265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D667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7C234D-2306-4CE9-8513-A63F7E1B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67652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D667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02B27-B5D6-4442-B854-4ED6B352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5A391D-D839-4A07-B0BC-3541FD63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526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ImportSet</a:t>
            </a:r>
          </a:p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Table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DD2EF3-C0E9-4868-BE8E-10A61377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647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3BE1B-C760-41DB-AB77-6C6E3965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00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GWAN接続用  P5230-Spoke-VNET001    10.173.47.0/24</a:t>
            </a:r>
          </a:p>
        </p:txBody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13fb2f534400c">
            <a:extLst>
              <a:ext uri="{96DAC541-7B7A-43D3-8B79-37D633B846F1}">
                <asvg:svgBlip xmlns:asvg="http://schemas.microsoft.com/office/drawing/2016/SVG/main" r:embed="R2c414a74b2754a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952750"/>
            <a:ext cx="400050" cy="3048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BD3171-D340-4FDF-BB27-B17E1E70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0512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2496C2-6D62-4B3B-BAD4-8AFE1AEB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33700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Bastion Subnet</a:t>
            </a:r>
          </a:p>
        </p:txBody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8a93943564260">
            <a:extLst>
              <a:ext uri="{96DAC541-7B7A-43D3-8B79-37D633B846F1}">
                <asvg:svgBlip xmlns:asvg="http://schemas.microsoft.com/office/drawing/2016/SVG/main" r:embed="R21a7ed49389445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86200" y="3086100"/>
            <a:ext cx="285750" cy="238125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037914-3D6C-4845-9C83-58796FF4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12954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E240FD-E2C7-46E9-A5E9-0DA9DBF3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Subnet</a:t>
            </a:r>
          </a:p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10.173.47.0/27  GWAN接続有</a:t>
            </a:r>
          </a:p>
        </p:txBody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df67afe9b4186">
            <a:extLst>
              <a:ext uri="{96DAC541-7B7A-43D3-8B79-37D633B846F1}">
                <asvg:svgBlip xmlns:asvg="http://schemas.microsoft.com/office/drawing/2016/SVG/main" r:embed="Rae04239f04dc41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4000500"/>
            <a:ext cx="304800" cy="238125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5151085604ed9">
            <a:extLst>
              <a:ext uri="{96DAC541-7B7A-43D3-8B79-37D633B846F1}">
                <asvg:svgBlip xmlns:asvg="http://schemas.microsoft.com/office/drawing/2016/SVG/main" r:embed="R2f21088bb2df43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4362450"/>
            <a:ext cx="381000" cy="342900"/>
          </a:xfrm>
          <a:prstGeom xmlns:a="http://schemas.openxmlformats.org/drawingml/2006/main" prst="rect">
            <a:avLst/>
          </a:prstGeom>
        </p:spPr>
      </p:pic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4190a41c84d4b">
            <a:extLst>
              <a:ext uri="{96DAC541-7B7A-43D3-8B79-37D633B846F1}">
                <asvg:svgBlip xmlns:asvg="http://schemas.microsoft.com/office/drawing/2016/SVG/main" r:embed="R92d15660f8f34c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28775" y="4362450"/>
            <a:ext cx="381000" cy="3429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B33AB1-EB56-460E-B4B8-DA95FCE3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24400"/>
            <a:ext cx="542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FTPS Server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F13031-7FD7-4C3D-B22C-5DADA90C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24400"/>
            <a:ext cx="542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MID Server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C16FE8-5702-4286-8B58-0D2FF61A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48050"/>
            <a:ext cx="130492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dash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05BA73-C3F8-4CBB-A657-C61D1EB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14725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Subnet for</a:t>
            </a:r>
          </a:p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Microsoft Fabric</a:t>
            </a:r>
          </a:p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GWAN接続有</a:t>
            </a:r>
          </a:p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10.173.47.224/27</a:t>
            </a:r>
          </a:p>
        </p:txBody>
      </p:sp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8bd31e5c549c7">
            <a:extLst>
              <a:ext uri="{96DAC541-7B7A-43D3-8B79-37D633B846F1}">
                <asvg:svgBlip xmlns:asvg="http://schemas.microsoft.com/office/drawing/2016/SVG/main" r:embed="Re0e0bf8f013b4a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81250" y="4000500"/>
            <a:ext cx="304800" cy="238125"/>
          </a:xfrm>
          <a:prstGeom xmlns:a="http://schemas.openxmlformats.org/drawingml/2006/main" prst="rect">
            <a:avLst/>
          </a:prstGeom>
        </p:spPr>
      </p:pic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d40d76116422a">
            <a:extLst>
              <a:ext uri="{96DAC541-7B7A-43D3-8B79-37D633B846F1}">
                <asvg:svgBlip xmlns:asvg="http://schemas.microsoft.com/office/drawing/2016/SVG/main" r:embed="Ra88f9730004a4a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71775" y="4314825"/>
            <a:ext cx="314325" cy="3048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055715-AD1E-4606-B337-51434ABA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863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Endpoint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36ED87-D313-4613-87E4-CD2933C9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48050"/>
            <a:ext cx="12001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2ECAAE-1DB9-4115-B2A2-03E74887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51472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Subnet for</a:t>
            </a:r>
          </a:p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ITOM1  GWAN接続無</a:t>
            </a:r>
          </a:p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10.173.47.176/28</a:t>
            </a:r>
          </a:p>
        </p:txBody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7a151409d4e1c">
            <a:extLst>
              <a:ext uri="{96DAC541-7B7A-43D3-8B79-37D633B846F1}">
                <asvg:svgBlip xmlns:asvg="http://schemas.microsoft.com/office/drawing/2016/SVG/main" r:embed="Raae6cc96fab943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86175" y="4000500"/>
            <a:ext cx="304800" cy="238125"/>
          </a:xfrm>
          <a:prstGeom xmlns:a="http://schemas.openxmlformats.org/drawingml/2006/main" prst="rect">
            <a:avLst/>
          </a:prstGeom>
        </p:spPr>
      </p:pic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2477835f94c8c">
            <a:extLst>
              <a:ext uri="{96DAC541-7B7A-43D3-8B79-37D633B846F1}">
                <asvg:svgBlip xmlns:asvg="http://schemas.microsoft.com/office/drawing/2016/SVG/main" r:embed="R6c053d4f3aad4c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52850" y="4362450"/>
            <a:ext cx="333375" cy="304800"/>
          </a:xfrm>
          <a:prstGeom xmlns:a="http://schemas.openxmlformats.org/drawingml/2006/main" prst="rect">
            <a:avLst/>
          </a:prstGeom>
        </p:spPr>
      </p:pic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b06f5bf5f4eaa">
            <a:extLst>
              <a:ext uri="{96DAC541-7B7A-43D3-8B79-37D633B846F1}">
                <asvg:svgBlip xmlns:asvg="http://schemas.microsoft.com/office/drawing/2016/SVG/main" r:embed="R224917769cf34e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0050" y="4343400"/>
            <a:ext cx="285750" cy="323850"/>
          </a:xfrm>
          <a:prstGeom xmlns:a="http://schemas.openxmlformats.org/drawingml/2006/main" prst="rect">
            <a:avLst/>
          </a:prstGeom>
        </p:spPr>
      </p:pic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594ced8234f5e">
            <a:extLst>
              <a:ext uri="{96DAC541-7B7A-43D3-8B79-37D633B846F1}">
                <asvg:svgBlip xmlns:asvg="http://schemas.microsoft.com/office/drawing/2016/SVG/main" r:embed="Rab1e7a0123f147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62400" y="4733925"/>
            <a:ext cx="304800" cy="276225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DC7341-2834-4658-85B4-56B30D52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1076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MID Server  vFirewall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FF7D2D-975D-4AA0-8078-C1AF24AD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91100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Windows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C47A99-18CC-442A-B796-EFF7ABA0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48050"/>
            <a:ext cx="111442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dash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49F19E-5F78-4F05-9634-4579E5BA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14725"/>
            <a:ext cx="100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Subnet for</a:t>
            </a:r>
          </a:p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ITOM2  GWAN接続無</a:t>
            </a:r>
          </a:p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10.173.47.192/28</a:t>
            </a:r>
          </a:p>
        </p:txBody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a69c626234c07">
            <a:extLst>
              <a:ext uri="{96DAC541-7B7A-43D3-8B79-37D633B846F1}">
                <asvg:svgBlip xmlns:asvg="http://schemas.microsoft.com/office/drawing/2016/SVG/main" r:embed="R470856757b014c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76800" y="4000500"/>
            <a:ext cx="304800" cy="238125"/>
          </a:xfrm>
          <a:prstGeom xmlns:a="http://schemas.openxmlformats.org/drawingml/2006/main" prst="rect">
            <a:avLst/>
          </a:prstGeom>
        </p:spPr>
      </p:pic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cb1f025a4481c">
            <a:extLst>
              <a:ext uri="{96DAC541-7B7A-43D3-8B79-37D633B846F1}">
                <asvg:svgBlip xmlns:asvg="http://schemas.microsoft.com/office/drawing/2016/SVG/main" r:embed="Re9057be9b73540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81575" y="4362450"/>
            <a:ext cx="333375" cy="304800"/>
          </a:xfrm>
          <a:prstGeom xmlns:a="http://schemas.openxmlformats.org/drawingml/2006/main" prst="rect">
            <a:avLst/>
          </a:prstGeom>
        </p:spPr>
      </p:pic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6939216e64e7c">
            <a:extLst>
              <a:ext uri="{96DAC541-7B7A-43D3-8B79-37D633B846F1}">
                <asvg:svgBlip xmlns:asvg="http://schemas.microsoft.com/office/drawing/2016/SVG/main" r:embed="Rfb4adacf7b4142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91125" y="4733925"/>
            <a:ext cx="304800" cy="276225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6ED85E-9600-41E9-9C42-32C9718E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67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MID Server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8C63D8-5371-4F09-BF11-E8D9B1FA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911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Linux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555265-2084-48F7-B80F-90F90EE4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448050"/>
            <a:ext cx="12382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dash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90D791-D8D3-4745-8F72-CED57254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14725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Private Subnet for</a:t>
            </a:r>
          </a:p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ITOM3  GWAN接続無</a:t>
            </a:r>
          </a:p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10.173.47.208/28</a:t>
            </a:r>
          </a:p>
        </p:txBody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a28c02bb94329">
            <a:extLst>
              <a:ext uri="{96DAC541-7B7A-43D3-8B79-37D633B846F1}">
                <asvg:svgBlip xmlns:asvg="http://schemas.microsoft.com/office/drawing/2016/SVG/main" r:embed="Rc72e3cc2d37e4a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91225" y="4000500"/>
            <a:ext cx="304800" cy="238125"/>
          </a:xfrm>
          <a:prstGeom xmlns:a="http://schemas.openxmlformats.org/drawingml/2006/main" prst="rect">
            <a:avLst/>
          </a:prstGeom>
        </p:spPr>
      </p:pic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a4c63d5c24f5c">
            <a:extLst>
              <a:ext uri="{96DAC541-7B7A-43D3-8B79-37D633B846F1}">
                <asvg:svgBlip xmlns:asvg="http://schemas.microsoft.com/office/drawing/2016/SVG/main" r:embed="Re12430b30ced45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15050" y="4362450"/>
            <a:ext cx="333375" cy="304800"/>
          </a:xfrm>
          <a:prstGeom xmlns:a="http://schemas.openxmlformats.org/drawingml/2006/main" prst="rect">
            <a:avLst/>
          </a:prstGeom>
        </p:spPr>
      </p:pic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315ab67fc421b">
            <a:extLst>
              <a:ext uri="{96DAC541-7B7A-43D3-8B79-37D633B846F1}">
                <asvg:svgBlip xmlns:asvg="http://schemas.microsoft.com/office/drawing/2016/SVG/main" r:embed="Reab07d82693941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0" y="4362450"/>
            <a:ext cx="333375" cy="304800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C00D12-C57F-4506-AC54-5A7A1A3D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6725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MID Server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4191F2-8F7E-47CE-A97A-07FD3BD1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911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Linux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6E9A09-8B59-41C0-9CEA-2515EF2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67250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Windows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7F0A80-68E4-4ECB-AC4F-893ACAD2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5D667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588DAC-2748-4908-8F1F-1841C556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480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5D667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F1F447-7837-4148-9B80-A7E434C0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48050"/>
            <a:ext cx="1038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5D667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F45314-BA21-4274-BB59-E336ADC2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48050"/>
            <a:ext cx="0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5D667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2E6B69-4782-4363-A4B3-CEB0F485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3E4A9DB-9C63-4691-9260-281BA4F8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53075"/>
            <a:ext cx="904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HSMS Spoke</a:t>
            </a:r>
          </a:p>
        </p:txBody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9a90af2244c8d">
            <a:extLst>
              <a:ext uri="{96DAC541-7B7A-43D3-8B79-37D633B846F1}">
                <asvg:svgBlip xmlns:asvg="http://schemas.microsoft.com/office/drawing/2016/SVG/main" r:embed="R004ca752ea5b4c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5695950"/>
            <a:ext cx="333375" cy="257175"/>
          </a:xfrm>
          <a:prstGeom xmlns:a="http://schemas.openxmlformats.org/drawingml/2006/main" prst="rect">
            <a:avLst/>
          </a:prstGeom>
        </p:spPr>
      </p:pic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4ef2988964943">
            <a:extLst>
              <a:ext uri="{96DAC541-7B7A-43D3-8B79-37D633B846F1}">
                <asvg:svgBlip xmlns:asvg="http://schemas.microsoft.com/office/drawing/2016/SVG/main" r:embed="Rb94f048a247542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23975" y="5953125"/>
            <a:ext cx="419100" cy="352425"/>
          </a:xfrm>
          <a:prstGeom xmlns:a="http://schemas.openxmlformats.org/drawingml/2006/main" prst="rect">
            <a:avLst/>
          </a:prstGeom>
        </p:spPr>
      </p:pic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06a2b7a1d4b30">
            <a:extLst>
              <a:ext uri="{96DAC541-7B7A-43D3-8B79-37D633B846F1}">
                <asvg:svgBlip xmlns:asvg="http://schemas.microsoft.com/office/drawing/2016/SVG/main" r:embed="R16668ac822e145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57425" y="5953125"/>
            <a:ext cx="419100" cy="352425"/>
          </a:xfrm>
          <a:prstGeom xmlns:a="http://schemas.openxmlformats.org/drawingml/2006/main" prst="rect">
            <a:avLst/>
          </a:prstGeom>
        </p:spPr>
      </p:pic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6820341-0922-42B0-8751-4C9480FC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865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HSMS DB Server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B3FDFD4-465C-46F3-BB08-188ECC51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286500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HSMS FTPServer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2B44235-1370-49CA-9517-2975223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054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65A1C63-F2D5-40E7-99E9-7A0D0943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53075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HUB環境</a:t>
            </a:r>
          </a:p>
        </p:txBody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c2406c38a44b7">
            <a:extLst>
              <a:ext uri="{96DAC541-7B7A-43D3-8B79-37D633B846F1}">
                <asvg:svgBlip xmlns:asvg="http://schemas.microsoft.com/office/drawing/2016/SVG/main" r:embed="R93eb62d8391744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76825" y="5695950"/>
            <a:ext cx="333375" cy="257175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1ef5978d475a">
            <a:extLst>
              <a:ext uri="{96DAC541-7B7A-43D3-8B79-37D633B846F1}">
                <asvg:svgBlip xmlns:asvg="http://schemas.microsoft.com/office/drawing/2016/SVG/main" r:embed="R3b65a43e6d7849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53100" y="5905500"/>
            <a:ext cx="342900" cy="342900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25921716142a8">
            <a:extLst>
              <a:ext uri="{96DAC541-7B7A-43D3-8B79-37D633B846F1}">
                <asvg:svgBlip xmlns:asvg="http://schemas.microsoft.com/office/drawing/2016/SVG/main" r:embed="R1bb266f36ef44e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58483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C27A41A-AC8E-4CD2-8040-7C7ABA35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248400"/>
            <a:ext cx="504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Firewall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0634D65-C9F7-4895-B0C5-4DDC98E4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62484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Gateway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6E3E4ED-C2FB-46CB-B070-197FA9CE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054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83345A-8F05-4B75-89C9-C4241C37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53075"/>
            <a:ext cx="571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GWAN</a:t>
            </a:r>
          </a:p>
        </p:txBody>
      </p:sp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f23a63df24741">
            <a:extLst>
              <a:ext uri="{96DAC541-7B7A-43D3-8B79-37D633B846F1}">
                <asvg:svgBlip xmlns:asvg="http://schemas.microsoft.com/office/drawing/2016/SVG/main" r:embed="R6fe881b4aa0543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582930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dc8ad6c93457f">
            <a:extLst>
              <a:ext uri="{96DAC541-7B7A-43D3-8B79-37D633B846F1}">
                <asvg:svgBlip xmlns:asvg="http://schemas.microsoft.com/office/drawing/2016/SVG/main" r:embed="R5c53d404cafa41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9775" y="5905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A4A2FD1-B403-437E-AD7C-BE7CCD83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667375"/>
            <a:ext cx="114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747D"/>
            </a:solidFill>
            <a:prstDash val="dash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FC6521E-9A20-4D5F-B405-6B2A789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695950"/>
            <a:ext cx="619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Intranet</a:t>
            </a:r>
          </a:p>
        </p:txBody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35476dc4f434d"/>
          <a:stretch xmlns:a="http://schemas.openxmlformats.org/drawingml/2006/main"/>
        </p:blipFill>
        <p:spPr>
          <a:xfrm xmlns:a="http://schemas.openxmlformats.org/drawingml/2006/main">
            <a:off x="10382763" y="5857875"/>
            <a:ext cx="218049" cy="295275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2146f98594b3c"/>
          <a:stretch xmlns:a="http://schemas.openxmlformats.org/drawingml/2006/main"/>
        </p:blipFill>
        <p:spPr>
          <a:xfrm xmlns:a="http://schemas.openxmlformats.org/drawingml/2006/main">
            <a:off x="10868538" y="5857875"/>
            <a:ext cx="218049" cy="295275"/>
          </a:xfrm>
          <a:prstGeom xmlns:a="http://schemas.openxmlformats.org/drawingml/2006/main" prst="rect">
            <a:avLst/>
          </a:prstGeom>
        </p:spPr>
      </p:pic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4778A68-9D37-4A18-9191-D828103E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915025"/>
            <a:ext cx="229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D667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75F4DFF-177D-4A64-9B6E-A5147DB8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15025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D667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0B754D8-05CC-4581-989D-24A2386F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0293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D6670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c6fdee0304ccb">
            <a:extLst>
              <a:ext uri="{96DAC541-7B7A-43D3-8B79-37D633B846F1}">
                <asvg:svgBlip xmlns:asvg="http://schemas.microsoft.com/office/drawing/2016/SVG/main" r:embed="R0a898930ce604c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39025" y="57435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EDDF24A-16DD-4D3E-AD2A-B6BEBD2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057900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Express Route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9147bbed94f49"/>
          <a:stretch xmlns:a="http://schemas.openxmlformats.org/drawingml/2006/main"/>
        </p:blipFill>
        <p:spPr>
          <a:xfrm xmlns:a="http://schemas.openxmlformats.org/drawingml/2006/main">
            <a:off x="7124700" y="6347998"/>
            <a:ext cx="400050" cy="391353"/>
          </a:xfrm>
          <a:prstGeom xmlns:a="http://schemas.openxmlformats.org/drawingml/2006/main" prst="rect">
            <a:avLst/>
          </a:prstGeom>
        </p:spPr>
      </p:pic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34C5602-8457-46EC-959F-131C1FAB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5817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Azure</a:t>
            </a:r>
          </a:p>
          <a:p xmlns:a="http://schemas.openxmlformats.org/drawingml/2006/main">
            <a:pPr algn="ctr">
              <a:def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525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PC2.0環境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A3F0B24-6FC2-4C73-9E72-FAA1FD9A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33975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5D667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8CCD60E-B2CC-4982-821E-C0788895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33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5D667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9040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2026-09-09T05:18:08.3790000Z</dcterms:created>
  <dcterms:modified xsi:type="dcterms:W3CDTF">2026-09-09T05:18:08.3790000Z</dcterms:modified>
</coreProperties>
</file>