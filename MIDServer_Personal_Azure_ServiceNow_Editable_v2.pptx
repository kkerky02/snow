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df0406291b4dec" /><Relationship Type="http://schemas.openxmlformats.org/officeDocument/2006/relationships/extended-properties" Target="/docProps/app.xml" Id="Rb9a428b70d014d3a" /><Relationship Type="http://schemas.openxmlformats.org/officeDocument/2006/relationships/officeDocument" Target="/ppt/presentation.xml" Id="Rd459d42f02e44e6b" /></Relationships>
</file>

<file path=ppt/presentation.xml><?xml version="1.0" encoding="utf-8"?>
<p:presentation xmlns:p="http://schemas.openxmlformats.org/presentationml/2006/main">
  <p:sldMasterIdLst>
    <p:sldMasterId xmlns:r="http://schemas.openxmlformats.org/officeDocument/2006/relationships" id="2147483648" r:id="R8e29f5e43f8d4153"/>
  </p:sldMasterIdLst>
  <p:notesMasterIdLst>
    <p:notesMasterId xmlns:r="http://schemas.openxmlformats.org/officeDocument/2006/relationships" r:id="Rfcd2288728664d81"/>
  </p:notesMasterIdLst>
  <p:sldIdLst>
    <p:sldId xmlns:r="http://schemas.openxmlformats.org/officeDocument/2006/relationships" id="256" r:id="R788261532cf24146"/>
    <p:sldId xmlns:r="http://schemas.openxmlformats.org/officeDocument/2006/relationships" id="257" r:id="Rfb6438f020ba4e51"/>
    <p:sldId xmlns:r="http://schemas.openxmlformats.org/officeDocument/2006/relationships" id="258" r:id="Rb45bba44613b4aa1"/>
    <p:sldId xmlns:r="http://schemas.openxmlformats.org/officeDocument/2006/relationships" id="259" r:id="Rc948a8ddcacd41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37f0574f5949d2" /><Relationship Type="http://schemas.openxmlformats.org/officeDocument/2006/relationships/slideMaster" Target="/ppt/slideMasters/slideMaster1.xml" Id="R8e29f5e43f8d4153" /><Relationship Type="http://schemas.openxmlformats.org/officeDocument/2006/relationships/notesMaster" Target="/ppt/notesMasters/notesMaster1.xml" Id="Rfcd2288728664d81" /><Relationship Type="http://schemas.openxmlformats.org/officeDocument/2006/relationships/presProps" Target="/ppt/presProps.xml" Id="R15b3ea508c8748b4" /><Relationship Type="http://schemas.openxmlformats.org/officeDocument/2006/relationships/tableStyles" Target="/ppt/tableStyles.xml" Id="R37ba362ef8cd41f2" /><Relationship Type="http://schemas.openxmlformats.org/officeDocument/2006/relationships/slide" Target="/ppt/slides/slide1.xml" Id="R788261532cf24146" /><Relationship Type="http://schemas.openxmlformats.org/officeDocument/2006/relationships/slide" Target="/ppt/slides/slide2.xml" Id="Rfb6438f020ba4e51" /><Relationship Type="http://schemas.openxmlformats.org/officeDocument/2006/relationships/slide" Target="/ppt/slides/slide3.xml" Id="Rb45bba44613b4aa1" /><Relationship Type="http://schemas.openxmlformats.org/officeDocument/2006/relationships/slide" Target="/ppt/slides/slide4.xml" Id="Rc948a8ddcacd41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10f687d9be4d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f0e1872b0e4bfb" /><Relationship Type="http://schemas.openxmlformats.org/officeDocument/2006/relationships/notesMaster" Target="/ppt/notesMasters/notesMaster1.xml" Id="R0741fa0032c049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80e78970a546ac" /><Relationship Type="http://schemas.openxmlformats.org/officeDocument/2006/relationships/notesMaster" Target="/ppt/notesMasters/notesMaster1.xml" Id="R4b2ac22ecd3d46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67a0702f7e4188" /><Relationship Type="http://schemas.openxmlformats.org/officeDocument/2006/relationships/notesMaster" Target="/ppt/notesMasters/notesMaster1.xml" Id="R52e1ac6439b843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d846ca8de54fbc" /><Relationship Type="http://schemas.openxmlformats.org/officeDocument/2006/relationships/notesMaster" Target="/ppt/notesMasters/notesMaster1.xml" Id="Ra844880a507747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image recreated as native PowerPoint rectangles, lines, text boxes, and individual official Azure SVG icon objects. The original diagram shows two MID Servers and an internet path to ServiceNow.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personal-account PoC architecture. Azure Bastion is optional for administration. A NAT Gateway or another explicit outbound design is recommended when the ServiceNow instance or security policy requires a stable source IP. MID Server should initiate outbound HTTPS to ServiceNow; do not expose an internet inbound port for ServiceNow.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 guidance for a personal Azure PoC. ServiceNow MID Server communication is outbound from the MID Server host to the instance over HTTPS. Discovery target ports are conditional and depend on the selected Discovery method, credentials, and target 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and improvement points. Sources: https://www.servicenow.com/docs/r/servicenow-platform/mid-server/r_MIDServerSystemRequirements.html ; https://www.servicenow.com/docs/r/xanadu/servicenow-platform/mid-server/t_ValidateNetworkConnectivity.html ; https://learn.microsoft.com/en-us/azure/bastion/bastion-overview ; https://learn.microsoft.com/en-us/azure/virtual-network/nat-gateway/nat-gateway-resource . ServiceNow release, plugins, proxy policy, and discovery scope can change the exact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b554cc3b5345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742ab7579644d2" /><Relationship Type="http://schemas.openxmlformats.org/officeDocument/2006/relationships/slideLayout" Target="/ppt/slideLayouts/slideLayout1.xml" Id="R1fb70d0d63ee47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b70d0d63ee47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dff7374d1049ee" /><Relationship Type="http://schemas.openxmlformats.org/officeDocument/2006/relationships/image" Target="/ppt/media/image.png" Id="R7da55bc5bf51481e" /><Relationship Type="http://schemas.openxmlformats.org/officeDocument/2006/relationships/image" Target="/ppt/media/image.svg" Id="R772c70147fd54840" /><Relationship Type="http://schemas.openxmlformats.org/officeDocument/2006/relationships/image" Target="/ppt/media/image2.png" Id="R93995470918140ce" /><Relationship Type="http://schemas.openxmlformats.org/officeDocument/2006/relationships/image" Target="/ppt/media/image2.svg" Id="Radb22cbe4efc4168" /><Relationship Type="http://schemas.openxmlformats.org/officeDocument/2006/relationships/image" Target="/ppt/media/image3.png" Id="R8d93228451ec41b2" /><Relationship Type="http://schemas.openxmlformats.org/officeDocument/2006/relationships/image" Target="/ppt/media/image3.svg" Id="R0403bf7cdf2049d2" /><Relationship Type="http://schemas.openxmlformats.org/officeDocument/2006/relationships/image" Target="/ppt/media/image4.png" Id="R846dcba61966447c" /><Relationship Type="http://schemas.openxmlformats.org/officeDocument/2006/relationships/image" Target="/ppt/media/image4.svg" Id="Rc81604a2a7a44abe" /><Relationship Type="http://schemas.openxmlformats.org/officeDocument/2006/relationships/image" Target="/ppt/media/image5.png" Id="R8c6220e5116342e0" /><Relationship Type="http://schemas.openxmlformats.org/officeDocument/2006/relationships/image" Target="/ppt/media/image5.svg" Id="R2ef2e78be68e45c8" /><Relationship Type="http://schemas.openxmlformats.org/officeDocument/2006/relationships/image" Target="/ppt/media/image6.png" Id="R38d73e62cdb44e90" /><Relationship Type="http://schemas.openxmlformats.org/officeDocument/2006/relationships/image" Target="/ppt/media/image6.svg" Id="R2eadef25e0ea42f1" /><Relationship Type="http://schemas.openxmlformats.org/officeDocument/2006/relationships/notesSlide" Target="/ppt/notesSlides/notesSlide1.xml" Id="Rc7c2da11ef0f4d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c12a401a4b4dac" /><Relationship Type="http://schemas.openxmlformats.org/officeDocument/2006/relationships/image" Target="/ppt/media/image7.png" Id="R880da3df65d1411f" /><Relationship Type="http://schemas.openxmlformats.org/officeDocument/2006/relationships/image" Target="/ppt/media/image7.svg" Id="R75358357707f427c" /><Relationship Type="http://schemas.openxmlformats.org/officeDocument/2006/relationships/image" Target="/ppt/media/image8.png" Id="Rabe4327ab0d94e87" /><Relationship Type="http://schemas.openxmlformats.org/officeDocument/2006/relationships/image" Target="/ppt/media/image8.svg" Id="Re8fe30a2e0ed4960" /><Relationship Type="http://schemas.openxmlformats.org/officeDocument/2006/relationships/image" Target="/ppt/media/image9.png" Id="R01b2b3138e4f4bc5" /><Relationship Type="http://schemas.openxmlformats.org/officeDocument/2006/relationships/image" Target="/ppt/media/image9.svg" Id="Ra933edd68a5a4788" /><Relationship Type="http://schemas.openxmlformats.org/officeDocument/2006/relationships/image" Target="/ppt/media/image10.png" Id="R306d9930021c431f" /><Relationship Type="http://schemas.openxmlformats.org/officeDocument/2006/relationships/image" Target="/ppt/media/image10.svg" Id="R45ea939991f149f7" /><Relationship Type="http://schemas.openxmlformats.org/officeDocument/2006/relationships/notesSlide" Target="/ppt/notesSlides/notesSlide2.xml" Id="R985ada8425144e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1aa20ae89c4f71" /><Relationship Type="http://schemas.openxmlformats.org/officeDocument/2006/relationships/notesSlide" Target="/ppt/notesSlides/notesSlide3.xml" Id="R9fae4591752049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734a40e7e347ee" /><Relationship Type="http://schemas.openxmlformats.org/officeDocument/2006/relationships/notesSlide" Target="/ppt/notesSlides/notesSlide4.xml" Id="Rf85f272ae21146b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BE4B434-3BA7-45D2-9219-6C64BAD65B9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057B8"/>
          </a:solidFill>
          <a:ln xmlns:a="http://schemas.openxmlformats.org/drawingml/2006/main" w="0">
            <a:solidFill>
              <a:srgbClr val="0057B8"/>
            </a:solidFill>
            <a:prstDash val="solid"/>
          </a:ln>
        </p:spPr>
      </p:sp>
      <p:sp>
        <p:nvSpPr>
          <p:cNvPr id="2" name="">
            <a:extLst xmlns:a="http://schemas.openxmlformats.org/drawingml/2006/main">
              <a:ext uri="{FF2B5EF4-FFF2-40B4-BE49-F238E27FC236}">
                <a16:creationId xmlns:a16="http://schemas.microsoft.com/office/drawing/2014/main" id="{D58ABE4D-9ACB-4583-84F8-083A09861A4E}"/>
              </a:ext>
            </a:extLst>
          </p:cNvPr>
          <p:cNvSpPr>
            <a:spLocks xmlns:a="http://schemas.openxmlformats.org/drawingml/2006/main" noGrp="1"/>
          </p:cNvSpPr>
          <p:nvPr/>
        </p:nvSpPr>
        <p:spPr>
          <a:xfrm xmlns:a="http://schemas.openxmlformats.org/drawingml/2006/main">
            <a:off x="514350" y="257175"/>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1F2933"/>
                </a:solidFill>
                <a:latin typeface="Yu Gothic"/>
                <a:ea typeface="Yu Gothic"/>
                <a:cs typeface="Yu Gothic"/>
              </a:defRPr>
            </a:pPr>
            <a:r>
              <a:rPr sz="1425" b="1">
                <a:solidFill>
                  <a:srgbClr val="1F2933"/>
                </a:solidFill>
                <a:latin typeface="Yu Gothic"/>
                <a:ea typeface="Yu Gothic"/>
                <a:cs typeface="Yu Gothic"/>
              </a:rPr>
              <a:t>MID Server / Azure / ServiceNow</a:t>
            </a:r>
          </a:p>
        </p:txBody>
      </p:sp>
      <p:sp>
        <p:nvSpPr>
          <p:cNvPr id="3" name="">
            <a:extLst xmlns:a="http://schemas.openxmlformats.org/drawingml/2006/main">
              <a:ext uri="{FF2B5EF4-FFF2-40B4-BE49-F238E27FC236}">
                <a16:creationId xmlns:a16="http://schemas.microsoft.com/office/drawing/2014/main" id="{2B9D43D4-8807-46F9-B6D0-2DB8FB2A0126}"/>
              </a:ext>
            </a:extLst>
          </p:cNvPr>
          <p:cNvSpPr>
            <a:spLocks xmlns:a="http://schemas.openxmlformats.org/drawingml/2006/main" noGrp="1"/>
          </p:cNvSpPr>
          <p:nvPr/>
        </p:nvSpPr>
        <p:spPr>
          <a:xfrm xmlns:a="http://schemas.openxmlformats.org/drawingml/2006/main">
            <a:off x="514350" y="5810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2325" b="1">
                <a:solidFill>
                  <a:srgbClr val="102A43"/>
                </a:solidFill>
                <a:latin typeface="Yu Gothic"/>
                <a:ea typeface="Yu Gothic"/>
                <a:cs typeface="Yu Gothic"/>
              </a:defRPr>
            </a:pPr>
            <a:r>
              <a:rPr sz="2325" b="1">
                <a:solidFill>
                  <a:srgbClr val="102A43"/>
                </a:solidFill>
                <a:latin typeface="Yu Gothic"/>
                <a:ea typeface="Yu Gothic"/>
                <a:cs typeface="Yu Gothic"/>
              </a:rPr>
              <a:t>MID Server 接続構成（編集可能）</a:t>
            </a:r>
          </a:p>
        </p:txBody>
      </p:sp>
      <p:sp>
        <p:nvSpPr>
          <p:cNvPr id="4" name="">
            <a:extLst xmlns:a="http://schemas.openxmlformats.org/drawingml/2006/main">
              <a:ext uri="{FF2B5EF4-FFF2-40B4-BE49-F238E27FC236}">
                <a16:creationId xmlns:a16="http://schemas.microsoft.com/office/drawing/2014/main" id="{F4011CE2-BD14-4D4D-8D53-266533AAABA9}"/>
              </a:ext>
            </a:extLst>
          </p:cNvPr>
          <p:cNvSpPr>
            <a:spLocks xmlns:a="http://schemas.openxmlformats.org/drawingml/2006/main" noGrp="1"/>
          </p:cNvSpPr>
          <p:nvPr/>
        </p:nvSpPr>
        <p:spPr>
          <a:xfrm xmlns:a="http://schemas.openxmlformats.org/drawingml/2006/main">
            <a:off x="533400" y="1104900"/>
            <a:ext cx="885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0">
                <a:solidFill>
                  <a:srgbClr val="65717C"/>
                </a:solidFill>
                <a:latin typeface="Yu Gothic"/>
                <a:ea typeface="Yu Gothic"/>
                <a:cs typeface="Yu Gothic"/>
              </a:defRPr>
            </a:pPr>
            <a:r>
              <a:rPr sz="1125" b="0">
                <a:solidFill>
                  <a:srgbClr val="65717C"/>
                </a:solidFill>
                <a:latin typeface="Yu Gothic"/>
                <a:ea typeface="Yu Gothic"/>
                <a:cs typeface="Yu Gothic"/>
              </a:rPr>
              <a:t>参考図をもとに、線・枠・ラベル・アイコンを個別オブジェクトとして再構成</a:t>
            </a:r>
          </a:p>
        </p:txBody>
      </p:sp>
      <p:sp>
        <p:nvSpPr>
          <p:cNvPr id="5" name="">
            <a:extLst xmlns:a="http://schemas.openxmlformats.org/drawingml/2006/main">
              <a:ext uri="{FF2B5EF4-FFF2-40B4-BE49-F238E27FC236}">
                <a16:creationId xmlns:a16="http://schemas.microsoft.com/office/drawing/2014/main" id="{D6D8D985-1816-4A65-9E20-86F26882AC66}"/>
              </a:ext>
            </a:extLst>
          </p:cNvPr>
          <p:cNvSpPr>
            <a:spLocks xmlns:a="http://schemas.openxmlformats.org/drawingml/2006/main" noGrp="1"/>
          </p:cNvSpPr>
          <p:nvPr/>
        </p:nvSpPr>
        <p:spPr>
          <a:xfrm xmlns:a="http://schemas.openxmlformats.org/drawingml/2006/main">
            <a:off x="10572750" y="285750"/>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050" b="0">
                <a:solidFill>
                  <a:srgbClr val="65717C"/>
                </a:solidFill>
                <a:latin typeface="Yu Gothic"/>
                <a:ea typeface="Yu Gothic"/>
                <a:cs typeface="Yu Gothic"/>
              </a:defRPr>
            </a:pPr>
            <a:r>
              <a:rPr sz="1050" b="0">
                <a:solidFill>
                  <a:srgbClr val="65717C"/>
                </a:solidFill>
                <a:latin typeface="Yu Gothic"/>
                <a:ea typeface="Yu Gothic"/>
                <a:cs typeface="Yu Gothic"/>
              </a:rPr>
              <a:t>ITOM / PoC</a:t>
            </a:r>
          </a:p>
        </p:txBody>
      </p:sp>
      <p:sp>
        <p:nvSpPr>
          <p:cNvPr id="6" name="">
            <a:extLst xmlns:a="http://schemas.openxmlformats.org/drawingml/2006/main">
              <a:ext uri="{FF2B5EF4-FFF2-40B4-BE49-F238E27FC236}">
                <a16:creationId xmlns:a16="http://schemas.microsoft.com/office/drawing/2014/main" id="{8DEB7231-7CC4-47A4-ABAD-0B852322D330}"/>
              </a:ext>
            </a:extLst>
          </p:cNvPr>
          <p:cNvSpPr>
            <a:spLocks xmlns:a="http://schemas.openxmlformats.org/drawingml/2006/main" noGrp="1"/>
          </p:cNvSpPr>
          <p:nvPr/>
        </p:nvSpPr>
        <p:spPr>
          <a:xfrm xmlns:a="http://schemas.openxmlformats.org/drawingml/2006/main">
            <a:off x="704850" y="1724025"/>
            <a:ext cx="6381750" cy="4191000"/>
          </a:xfrm>
          <a:prstGeom xmlns:a="http://schemas.openxmlformats.org/drawingml/2006/main" prst="rect">
            <a:avLst/>
          </a:prstGeom>
          <a:solidFill xmlns:a="http://schemas.openxmlformats.org/drawingml/2006/main">
            <a:srgbClr val="FFFFFF"/>
          </a:solidFill>
          <a:ln xmlns:a="http://schemas.openxmlformats.org/drawingml/2006/main" w="11430">
            <a:solidFill>
              <a:srgbClr val="7B8794"/>
            </a:solidFill>
            <a:prstDash val="solid"/>
          </a:ln>
        </p:spPr>
      </p:sp>
      <p:sp>
        <p:nvSpPr>
          <p:cNvPr id="7" name="">
            <a:extLst xmlns:a="http://schemas.openxmlformats.org/drawingml/2006/main">
              <a:ext uri="{FF2B5EF4-FFF2-40B4-BE49-F238E27FC236}">
                <a16:creationId xmlns:a16="http://schemas.microsoft.com/office/drawing/2014/main" id="{76E768A5-DF6F-49E3-A9CD-98E945763BF6}"/>
              </a:ext>
            </a:extLst>
          </p:cNvPr>
          <p:cNvSpPr>
            <a:spLocks xmlns:a="http://schemas.openxmlformats.org/drawingml/2006/main" noGrp="1"/>
          </p:cNvSpPr>
          <p:nvPr/>
        </p:nvSpPr>
        <p:spPr>
          <a:xfrm xmlns:a="http://schemas.openxmlformats.org/drawingml/2006/main">
            <a:off x="923925" y="1847850"/>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725" b="0">
                <a:solidFill>
                  <a:srgbClr val="102A43"/>
                </a:solidFill>
                <a:latin typeface="Yu Gothic"/>
                <a:ea typeface="Yu Gothic"/>
                <a:cs typeface="Yu Gothic"/>
              </a:defRPr>
            </a:pPr>
            <a:r>
              <a:rPr sz="1725" b="0">
                <a:solidFill>
                  <a:srgbClr val="102A43"/>
                </a:solidFill>
                <a:latin typeface="Yu Gothic"/>
                <a:ea typeface="Yu Gothic"/>
                <a:cs typeface="Yu Gothic"/>
              </a:rPr>
              <a:t>GAM Spoke New-Spoke-Subscription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da55bc5bf51481e">
            <a:extLst>
              <a:ext uri="{96DAC541-7B7A-43D3-8B79-37D633B846F1}">
                <asvg:svgBlip xmlns:asvg="http://schemas.microsoft.com/office/drawing/2016/SVG/main" r:embed="R772c70147fd54840"/>
              </a:ext>
            </a:extLst>
          </a:blip>
          <a:stretch xmlns:a="http://schemas.openxmlformats.org/drawingml/2006/main"/>
        </p:blipFill>
        <p:spPr>
          <a:xfrm xmlns:a="http://schemas.openxmlformats.org/drawingml/2006/main">
            <a:off x="962025" y="2181225"/>
            <a:ext cx="257175" cy="2952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4898885-1F99-4637-AD39-06DE49968C3D}"/>
              </a:ext>
            </a:extLst>
          </p:cNvPr>
          <p:cNvSpPr>
            <a:spLocks xmlns:a="http://schemas.openxmlformats.org/drawingml/2006/main" noGrp="1"/>
          </p:cNvSpPr>
          <p:nvPr/>
        </p:nvSpPr>
        <p:spPr>
          <a:xfrm xmlns:a="http://schemas.openxmlformats.org/drawingml/2006/main">
            <a:off x="990600" y="2447925"/>
            <a:ext cx="5657850" cy="3143250"/>
          </a:xfrm>
          <a:prstGeom xmlns:a="http://schemas.openxmlformats.org/drawingml/2006/main" prst="rect">
            <a:avLst/>
          </a:prstGeom>
          <a:solidFill xmlns:a="http://schemas.openxmlformats.org/drawingml/2006/main">
            <a:srgbClr val="FFFFFF"/>
          </a:solidFill>
          <a:ln xmlns:a="http://schemas.openxmlformats.org/drawingml/2006/main" w="11430">
            <a:solidFill>
              <a:srgbClr val="7B8794"/>
            </a:solidFill>
            <a:prstDash val="solid"/>
          </a:ln>
        </p:spPr>
      </p:sp>
      <p:sp>
        <p:nvSpPr>
          <p:cNvPr id="10" name="">
            <a:extLst xmlns:a="http://schemas.openxmlformats.org/drawingml/2006/main">
              <a:ext uri="{FF2B5EF4-FFF2-40B4-BE49-F238E27FC236}">
                <a16:creationId xmlns:a16="http://schemas.microsoft.com/office/drawing/2014/main" id="{A954967B-2B9C-440A-8F1E-1E15CCAE739F}"/>
              </a:ext>
            </a:extLst>
          </p:cNvPr>
          <p:cNvSpPr>
            <a:spLocks xmlns:a="http://schemas.openxmlformats.org/drawingml/2006/main" noGrp="1"/>
          </p:cNvSpPr>
          <p:nvPr/>
        </p:nvSpPr>
        <p:spPr>
          <a:xfrm xmlns:a="http://schemas.openxmlformats.org/drawingml/2006/main">
            <a:off x="1181100" y="25812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650" b="0">
                <a:solidFill>
                  <a:srgbClr val="102A43"/>
                </a:solidFill>
                <a:latin typeface="Yu Gothic"/>
                <a:ea typeface="Yu Gothic"/>
                <a:cs typeface="Yu Gothic"/>
              </a:defRPr>
            </a:pPr>
            <a:r>
              <a:rPr sz="1650" b="0">
                <a:solidFill>
                  <a:srgbClr val="102A43"/>
                </a:solidFill>
                <a:latin typeface="Yu Gothic"/>
                <a:ea typeface="Yu Gothic"/>
                <a:cs typeface="Yu Gothic"/>
              </a:rPr>
              <a:t>New-Spoke-Vnet001</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93995470918140ce">
            <a:extLst>
              <a:ext uri="{96DAC541-7B7A-43D3-8B79-37D633B846F1}">
                <asvg:svgBlip xmlns:asvg="http://schemas.microsoft.com/office/drawing/2016/SVG/main" r:embed="Radb22cbe4efc4168"/>
              </a:ext>
            </a:extLst>
          </a:blip>
          <a:stretch xmlns:a="http://schemas.openxmlformats.org/drawingml/2006/main"/>
        </p:blipFill>
        <p:spPr>
          <a:xfrm xmlns:a="http://schemas.openxmlformats.org/drawingml/2006/main">
            <a:off x="1162050" y="2962275"/>
            <a:ext cx="400050" cy="304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AEC2569-3EAD-4A0D-9E3D-C8F6EA79563A}"/>
              </a:ext>
            </a:extLst>
          </p:cNvPr>
          <p:cNvSpPr>
            <a:spLocks xmlns:a="http://schemas.openxmlformats.org/drawingml/2006/main" noGrp="1"/>
          </p:cNvSpPr>
          <p:nvPr/>
        </p:nvSpPr>
        <p:spPr>
          <a:xfrm xmlns:a="http://schemas.openxmlformats.org/drawingml/2006/main">
            <a:off x="1990725" y="2990850"/>
            <a:ext cx="2952750" cy="704850"/>
          </a:xfrm>
          <a:prstGeom xmlns:a="http://schemas.openxmlformats.org/drawingml/2006/main" prst="rect">
            <a:avLst/>
          </a:prstGeom>
          <a:solidFill xmlns:a="http://schemas.openxmlformats.org/drawingml/2006/main">
            <a:srgbClr val="FFFFFF"/>
          </a:solidFill>
          <a:ln xmlns:a="http://schemas.openxmlformats.org/drawingml/2006/main" w="11430">
            <a:solidFill>
              <a:srgbClr val="7B8794"/>
            </a:solidFill>
            <a:prstDash val="solid"/>
          </a:ln>
        </p:spPr>
      </p:sp>
      <p:sp>
        <p:nvSpPr>
          <p:cNvPr id="13" name="">
            <a:extLst xmlns:a="http://schemas.openxmlformats.org/drawingml/2006/main">
              <a:ext uri="{FF2B5EF4-FFF2-40B4-BE49-F238E27FC236}">
                <a16:creationId xmlns:a16="http://schemas.microsoft.com/office/drawing/2014/main" id="{FBB191AC-B233-44A5-8CBC-806817AAFDC4}"/>
              </a:ext>
            </a:extLst>
          </p:cNvPr>
          <p:cNvSpPr>
            <a:spLocks xmlns:a="http://schemas.openxmlformats.org/drawingml/2006/main" noGrp="1"/>
          </p:cNvSpPr>
          <p:nvPr/>
        </p:nvSpPr>
        <p:spPr>
          <a:xfrm xmlns:a="http://schemas.openxmlformats.org/drawingml/2006/main">
            <a:off x="2114550" y="3095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1667"/>
          </a:bodyPr>
          <a:lstStyle xmlns:a="http://schemas.openxmlformats.org/drawingml/2006/main"/>
          <a:p xmlns:a="http://schemas.openxmlformats.org/drawingml/2006/main">
            <a:pPr algn="l">
              <a:defRPr sz="1500" b="0">
                <a:solidFill>
                  <a:srgbClr val="102A43"/>
                </a:solidFill>
                <a:latin typeface="Yu Gothic"/>
                <a:ea typeface="Yu Gothic"/>
                <a:cs typeface="Yu Gothic"/>
              </a:defRPr>
            </a:pPr>
            <a:r>
              <a:rPr sz="1500" b="0">
                <a:solidFill>
                  <a:srgbClr val="102A43"/>
                </a:solidFill>
                <a:latin typeface="Yu Gothic"/>
                <a:ea typeface="Yu Gothic"/>
                <a:cs typeface="Yu Gothic"/>
              </a:rPr>
              <a:t>Bastion Subnet</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d93228451ec41b2">
            <a:extLst>
              <a:ext uri="{96DAC541-7B7A-43D3-8B79-37D633B846F1}">
                <asvg:svgBlip xmlns:asvg="http://schemas.microsoft.com/office/drawing/2016/SVG/main" r:embed="R0403bf7cdf2049d2"/>
              </a:ext>
            </a:extLst>
          </a:blip>
          <a:stretch xmlns:a="http://schemas.openxmlformats.org/drawingml/2006/main"/>
        </p:blipFill>
        <p:spPr>
          <a:xfrm xmlns:a="http://schemas.openxmlformats.org/drawingml/2006/main">
            <a:off x="2114550" y="3371850"/>
            <a:ext cx="295275" cy="2381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BCFDA1CC-ADDD-47A5-93C6-BA7B7418835B}"/>
              </a:ext>
            </a:extLst>
          </p:cNvPr>
          <p:cNvSpPr>
            <a:spLocks xmlns:a="http://schemas.openxmlformats.org/drawingml/2006/main" noGrp="1"/>
          </p:cNvSpPr>
          <p:nvPr/>
        </p:nvSpPr>
        <p:spPr>
          <a:xfrm xmlns:a="http://schemas.openxmlformats.org/drawingml/2006/main">
            <a:off x="1971675" y="3905250"/>
            <a:ext cx="4048125" cy="1304925"/>
          </a:xfrm>
          <a:prstGeom xmlns:a="http://schemas.openxmlformats.org/drawingml/2006/main" prst="rect">
            <a:avLst/>
          </a:prstGeom>
          <a:solidFill xmlns:a="http://schemas.openxmlformats.org/drawingml/2006/main">
            <a:srgbClr val="FFFFFF"/>
          </a:solidFill>
          <a:ln xmlns:a="http://schemas.openxmlformats.org/drawingml/2006/main" w="11430">
            <a:solidFill>
              <a:srgbClr val="7B8794"/>
            </a:solidFill>
            <a:prstDash val="solid"/>
          </a:ln>
        </p:spPr>
      </p:sp>
      <p:sp>
        <p:nvSpPr>
          <p:cNvPr id="16" name="">
            <a:extLst xmlns:a="http://schemas.openxmlformats.org/drawingml/2006/main">
              <a:ext uri="{FF2B5EF4-FFF2-40B4-BE49-F238E27FC236}">
                <a16:creationId xmlns:a16="http://schemas.microsoft.com/office/drawing/2014/main" id="{069B0B98-98B2-4DF1-9C32-D91F9D3AB2E6}"/>
              </a:ext>
            </a:extLst>
          </p:cNvPr>
          <p:cNvSpPr>
            <a:spLocks xmlns:a="http://schemas.openxmlformats.org/drawingml/2006/main" noGrp="1"/>
          </p:cNvSpPr>
          <p:nvPr/>
        </p:nvSpPr>
        <p:spPr>
          <a:xfrm xmlns:a="http://schemas.openxmlformats.org/drawingml/2006/main">
            <a:off x="2114550" y="40100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500" b="0">
                <a:solidFill>
                  <a:srgbClr val="102A43"/>
                </a:solidFill>
                <a:latin typeface="Yu Gothic"/>
                <a:ea typeface="Yu Gothic"/>
                <a:cs typeface="Yu Gothic"/>
              </a:defRPr>
            </a:pPr>
            <a:r>
              <a:rPr sz="1500" b="0">
                <a:solidFill>
                  <a:srgbClr val="102A43"/>
                </a:solidFill>
                <a:latin typeface="Yu Gothic"/>
                <a:ea typeface="Yu Gothic"/>
                <a:cs typeface="Yu Gothic"/>
              </a:rPr>
              <a:t>New-Spoke-Subnet001</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846dcba61966447c">
            <a:extLst>
              <a:ext uri="{96DAC541-7B7A-43D3-8B79-37D633B846F1}">
                <asvg:svgBlip xmlns:asvg="http://schemas.microsoft.com/office/drawing/2016/SVG/main" r:embed="Rc81604a2a7a44abe"/>
              </a:ext>
            </a:extLst>
          </a:blip>
          <a:stretch xmlns:a="http://schemas.openxmlformats.org/drawingml/2006/main"/>
        </p:blipFill>
        <p:spPr>
          <a:xfrm xmlns:a="http://schemas.openxmlformats.org/drawingml/2006/main">
            <a:off x="2114550" y="4362450"/>
            <a:ext cx="323850" cy="24765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c6220e5116342e0">
            <a:extLst>
              <a:ext uri="{96DAC541-7B7A-43D3-8B79-37D633B846F1}">
                <asvg:svgBlip xmlns:asvg="http://schemas.microsoft.com/office/drawing/2016/SVG/main" r:embed="R2ef2e78be68e45c8"/>
              </a:ext>
            </a:extLst>
          </a:blip>
          <a:stretch xmlns:a="http://schemas.openxmlformats.org/drawingml/2006/main"/>
        </p:blipFill>
        <p:spPr>
          <a:xfrm xmlns:a="http://schemas.openxmlformats.org/drawingml/2006/main">
            <a:off x="3114675" y="4305300"/>
            <a:ext cx="638175" cy="523875"/>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38d73e62cdb44e90">
            <a:extLst>
              <a:ext uri="{96DAC541-7B7A-43D3-8B79-37D633B846F1}">
                <asvg:svgBlip xmlns:asvg="http://schemas.microsoft.com/office/drawing/2016/SVG/main" r:embed="R2eadef25e0ea42f1"/>
              </a:ext>
            </a:extLst>
          </a:blip>
          <a:stretch xmlns:a="http://schemas.openxmlformats.org/drawingml/2006/main"/>
        </p:blipFill>
        <p:spPr>
          <a:xfrm xmlns:a="http://schemas.openxmlformats.org/drawingml/2006/main">
            <a:off x="4543425" y="4305300"/>
            <a:ext cx="638175" cy="5238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65C0C865-73B1-424D-A35B-4011E7F36B55}"/>
              </a:ext>
            </a:extLst>
          </p:cNvPr>
          <p:cNvSpPr>
            <a:spLocks xmlns:a="http://schemas.openxmlformats.org/drawingml/2006/main" noGrp="1"/>
          </p:cNvSpPr>
          <p:nvPr/>
        </p:nvSpPr>
        <p:spPr>
          <a:xfrm xmlns:a="http://schemas.openxmlformats.org/drawingml/2006/main">
            <a:off x="3028950" y="4857750"/>
            <a:ext cx="809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900" b="0">
                <a:solidFill>
                  <a:srgbClr val="1F2933"/>
                </a:solidFill>
                <a:latin typeface="Yu Gothic"/>
                <a:ea typeface="Yu Gothic"/>
                <a:cs typeface="Yu Gothic"/>
              </a:defRPr>
            </a:pPr>
            <a:r>
              <a:rPr sz="900" b="0">
                <a:solidFill>
                  <a:srgbClr val="1F2933"/>
                </a:solidFill>
                <a:latin typeface="Yu Gothic"/>
                <a:ea typeface="Yu Gothic"/>
                <a:cs typeface="Yu Gothic"/>
              </a:rPr>
              <a:t>MidServer01</a:t>
            </a:r>
          </a:p>
        </p:txBody>
      </p:sp>
      <p:sp>
        <p:nvSpPr>
          <p:cNvPr id="21" name="">
            <a:extLst xmlns:a="http://schemas.openxmlformats.org/drawingml/2006/main">
              <a:ext uri="{FF2B5EF4-FFF2-40B4-BE49-F238E27FC236}">
                <a16:creationId xmlns:a16="http://schemas.microsoft.com/office/drawing/2014/main" id="{4B42528A-F386-4F5E-827F-998AC99246E7}"/>
              </a:ext>
            </a:extLst>
          </p:cNvPr>
          <p:cNvSpPr>
            <a:spLocks xmlns:a="http://schemas.openxmlformats.org/drawingml/2006/main" noGrp="1"/>
          </p:cNvSpPr>
          <p:nvPr/>
        </p:nvSpPr>
        <p:spPr>
          <a:xfrm xmlns:a="http://schemas.openxmlformats.org/drawingml/2006/main">
            <a:off x="4457700" y="4857750"/>
            <a:ext cx="809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900" b="0">
                <a:solidFill>
                  <a:srgbClr val="1F2933"/>
                </a:solidFill>
                <a:latin typeface="Yu Gothic"/>
                <a:ea typeface="Yu Gothic"/>
                <a:cs typeface="Yu Gothic"/>
              </a:defRPr>
            </a:pPr>
            <a:r>
              <a:rPr sz="900" b="0">
                <a:solidFill>
                  <a:srgbClr val="1F2933"/>
                </a:solidFill>
                <a:latin typeface="Yu Gothic"/>
                <a:ea typeface="Yu Gothic"/>
                <a:cs typeface="Yu Gothic"/>
              </a:rPr>
              <a:t>MidServer02</a:t>
            </a:r>
          </a:p>
        </p:txBody>
      </p:sp>
      <p:sp>
        <p:nvSpPr>
          <p:cNvPr id="22" name="">
            <a:extLst xmlns:a="http://schemas.openxmlformats.org/drawingml/2006/main">
              <a:ext uri="{FF2B5EF4-FFF2-40B4-BE49-F238E27FC236}">
                <a16:creationId xmlns:a16="http://schemas.microsoft.com/office/drawing/2014/main" id="{D8139CB6-4705-41C0-98B5-9E68A081525C}"/>
              </a:ext>
            </a:extLst>
          </p:cNvPr>
          <p:cNvSpPr>
            <a:spLocks xmlns:a="http://schemas.openxmlformats.org/drawingml/2006/main" noGrp="1"/>
          </p:cNvSpPr>
          <p:nvPr/>
        </p:nvSpPr>
        <p:spPr>
          <a:xfrm xmlns:a="http://schemas.openxmlformats.org/drawingml/2006/main">
            <a:off x="8096250" y="2667000"/>
            <a:ext cx="3429000" cy="2381250"/>
          </a:xfrm>
          <a:prstGeom xmlns:a="http://schemas.openxmlformats.org/drawingml/2006/main" prst="rect">
            <a:avLst/>
          </a:prstGeom>
          <a:solidFill xmlns:a="http://schemas.openxmlformats.org/drawingml/2006/main">
            <a:srgbClr val="FFFFFF"/>
          </a:solidFill>
          <a:ln xmlns:a="http://schemas.openxmlformats.org/drawingml/2006/main" w="11430">
            <a:solidFill>
              <a:srgbClr val="7B8794"/>
            </a:solidFill>
            <a:prstDash val="solid"/>
          </a:ln>
        </p:spPr>
      </p:sp>
      <p:sp>
        <p:nvSpPr>
          <p:cNvPr id="23" name="">
            <a:extLst xmlns:a="http://schemas.openxmlformats.org/drawingml/2006/main">
              <a:ext uri="{FF2B5EF4-FFF2-40B4-BE49-F238E27FC236}">
                <a16:creationId xmlns:a16="http://schemas.microsoft.com/office/drawing/2014/main" id="{A3885355-6192-4218-9F3B-CDA046D572E3}"/>
              </a:ext>
            </a:extLst>
          </p:cNvPr>
          <p:cNvSpPr>
            <a:spLocks xmlns:a="http://schemas.openxmlformats.org/drawingml/2006/main" noGrp="1"/>
          </p:cNvSpPr>
          <p:nvPr/>
        </p:nvSpPr>
        <p:spPr>
          <a:xfrm xmlns:a="http://schemas.openxmlformats.org/drawingml/2006/main">
            <a:off x="8362950" y="28575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2175" b="1">
                <a:solidFill>
                  <a:srgbClr val="102A43"/>
                </a:solidFill>
                <a:latin typeface="Yu Gothic"/>
                <a:ea typeface="Yu Gothic"/>
                <a:cs typeface="Yu Gothic"/>
              </a:defRPr>
            </a:pPr>
            <a:r>
              <a:rPr sz="2175" b="1">
                <a:solidFill>
                  <a:srgbClr val="102A43"/>
                </a:solidFill>
                <a:latin typeface="Yu Gothic"/>
                <a:ea typeface="Yu Gothic"/>
                <a:cs typeface="Yu Gothic"/>
              </a:rPr>
              <a:t>servicenow.</a:t>
            </a:r>
          </a:p>
        </p:txBody>
      </p:sp>
      <p:sp>
        <p:nvSpPr>
          <p:cNvPr id="24" name="">
            <a:extLst xmlns:a="http://schemas.openxmlformats.org/drawingml/2006/main">
              <a:ext uri="{FF2B5EF4-FFF2-40B4-BE49-F238E27FC236}">
                <a16:creationId xmlns:a16="http://schemas.microsoft.com/office/drawing/2014/main" id="{065ECF62-5794-4751-B91C-DDCB027F496F}"/>
              </a:ext>
            </a:extLst>
          </p:cNvPr>
          <p:cNvSpPr>
            <a:spLocks xmlns:a="http://schemas.openxmlformats.org/drawingml/2006/main" noGrp="1"/>
          </p:cNvSpPr>
          <p:nvPr/>
        </p:nvSpPr>
        <p:spPr>
          <a:xfrm xmlns:a="http://schemas.openxmlformats.org/drawingml/2006/main">
            <a:off x="8382000" y="33337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75" b="0">
                <a:solidFill>
                  <a:srgbClr val="65717C"/>
                </a:solidFill>
                <a:latin typeface="Yu Gothic"/>
                <a:ea typeface="Yu Gothic"/>
                <a:cs typeface="Yu Gothic"/>
              </a:defRPr>
            </a:pPr>
            <a:r>
              <a:rPr sz="975" b="0">
                <a:solidFill>
                  <a:srgbClr val="65717C"/>
                </a:solidFill>
                <a:latin typeface="Yu Gothic"/>
                <a:ea typeface="Yu Gothic"/>
                <a:cs typeface="Yu Gothic"/>
              </a:rPr>
              <a:t>ServiceNow instance</a:t>
            </a:r>
          </a:p>
        </p:txBody>
      </p:sp>
      <p:sp>
        <p:nvSpPr>
          <p:cNvPr id="25" name="">
            <a:extLst xmlns:a="http://schemas.openxmlformats.org/drawingml/2006/main">
              <a:ext uri="{FF2B5EF4-FFF2-40B4-BE49-F238E27FC236}">
                <a16:creationId xmlns:a16="http://schemas.microsoft.com/office/drawing/2014/main" id="{3D06FC5C-427C-4648-A0C7-B07747972F5F}"/>
              </a:ext>
            </a:extLst>
          </p:cNvPr>
          <p:cNvSpPr>
            <a:spLocks xmlns:a="http://schemas.openxmlformats.org/drawingml/2006/main" noGrp="1"/>
          </p:cNvSpPr>
          <p:nvPr/>
        </p:nvSpPr>
        <p:spPr>
          <a:xfrm xmlns:a="http://schemas.openxmlformats.org/drawingml/2006/main">
            <a:off x="6934200" y="34575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350" b="1">
                <a:solidFill>
                  <a:srgbClr val="1F2933"/>
                </a:solidFill>
                <a:latin typeface="Yu Gothic"/>
                <a:ea typeface="Yu Gothic"/>
                <a:cs typeface="Yu Gothic"/>
              </a:defRPr>
            </a:pPr>
            <a:r>
              <a:rPr sz="1350" b="1">
                <a:solidFill>
                  <a:srgbClr val="1F2933"/>
                </a:solidFill>
                <a:latin typeface="Yu Gothic"/>
                <a:ea typeface="Yu Gothic"/>
                <a:cs typeface="Yu Gothic"/>
              </a:rPr>
              <a:t>internet</a:t>
            </a:r>
          </a:p>
        </p:txBody>
      </p:sp>
      <p:sp>
        <p:nvSpPr>
          <p:cNvPr id="26" name="">
            <a:extLst xmlns:a="http://schemas.openxmlformats.org/drawingml/2006/main">
              <a:ext uri="{FF2B5EF4-FFF2-40B4-BE49-F238E27FC236}">
                <a16:creationId xmlns:a16="http://schemas.microsoft.com/office/drawing/2014/main" id="{233BA8B5-9CAC-4D21-92B3-8940A9A44696}"/>
              </a:ext>
            </a:extLst>
          </p:cNvPr>
          <p:cNvSpPr>
            <a:spLocks xmlns:a="http://schemas.openxmlformats.org/drawingml/2006/main" noGrp="1"/>
          </p:cNvSpPr>
          <p:nvPr/>
        </p:nvSpPr>
        <p:spPr>
          <a:xfrm xmlns:a="http://schemas.openxmlformats.org/drawingml/2006/main">
            <a:off x="5191125" y="4552950"/>
            <a:ext cx="2905125" cy="0"/>
          </a:xfrm>
          <a:prstGeom xmlns:a="http://schemas.openxmlformats.org/drawingml/2006/main" prst="line">
            <a:avLst/>
          </a:prstGeom>
          <a:noFill xmlns:a="http://schemas.openxmlformats.org/drawingml/2006/main"/>
          <a:ln xmlns:a="http://schemas.openxmlformats.org/drawingml/2006/main" w="19050">
            <a:solidFill>
              <a:srgbClr val="0057B8"/>
            </a:solidFill>
            <a:prstDash val="solid"/>
          </a:ln>
        </p:spPr>
      </p:sp>
      <p:sp>
        <p:nvSpPr>
          <p:cNvPr id="27" name="">
            <a:extLst xmlns:a="http://schemas.openxmlformats.org/drawingml/2006/main">
              <a:ext uri="{FF2B5EF4-FFF2-40B4-BE49-F238E27FC236}">
                <a16:creationId xmlns:a16="http://schemas.microsoft.com/office/drawing/2014/main" id="{1220A412-8B08-4372-93E8-8B6B26C4F3FA}"/>
              </a:ext>
            </a:extLst>
          </p:cNvPr>
          <p:cNvSpPr>
            <a:spLocks xmlns:a="http://schemas.openxmlformats.org/drawingml/2006/main" noGrp="1"/>
          </p:cNvSpPr>
          <p:nvPr/>
        </p:nvSpPr>
        <p:spPr>
          <a:xfrm xmlns:a="http://schemas.openxmlformats.org/drawingml/2006/main">
            <a:off x="5857875" y="471487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750" b="0">
                <a:solidFill>
                  <a:srgbClr val="65717C"/>
                </a:solidFill>
                <a:latin typeface="Yu Gothic"/>
                <a:ea typeface="Yu Gothic"/>
                <a:cs typeface="Yu Gothic"/>
              </a:defRPr>
            </a:pPr>
            <a:r>
              <a:rPr sz="750" b="0">
                <a:solidFill>
                  <a:srgbClr val="65717C"/>
                </a:solidFill>
                <a:latin typeface="Yu Gothic"/>
                <a:ea typeface="Yu Gothic"/>
                <a:cs typeface="Yu Gothic"/>
              </a:rPr>
              <a:t>MID Server initiates outbound HTTPS</a:t>
            </a:r>
          </a:p>
        </p:txBody>
      </p:sp>
      <p:sp>
        <p:nvSpPr>
          <p:cNvPr id="28" name="">
            <a:extLst xmlns:a="http://schemas.openxmlformats.org/drawingml/2006/main">
              <a:ext uri="{FF2B5EF4-FFF2-40B4-BE49-F238E27FC236}">
                <a16:creationId xmlns:a16="http://schemas.microsoft.com/office/drawing/2014/main" id="{92F7F25F-3F8B-4035-B304-076EDCE8512A}"/>
              </a:ext>
            </a:extLst>
          </p:cNvPr>
          <p:cNvSpPr>
            <a:spLocks xmlns:a="http://schemas.openxmlformats.org/drawingml/2006/main" noGrp="1"/>
          </p:cNvSpPr>
          <p:nvPr/>
        </p:nvSpPr>
        <p:spPr>
          <a:xfrm xmlns:a="http://schemas.openxmlformats.org/drawingml/2006/main">
            <a:off x="723900" y="61436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0">
                <a:solidFill>
                  <a:srgbClr val="65717C"/>
                </a:solidFill>
                <a:latin typeface="Yu Gothic"/>
                <a:ea typeface="Yu Gothic"/>
                <a:cs typeface="Yu Gothic"/>
              </a:defRPr>
            </a:pPr>
            <a:r>
              <a:rPr sz="900" b="0">
                <a:solidFill>
                  <a:srgbClr val="65717C"/>
                </a:solidFill>
                <a:latin typeface="Yu Gothic"/>
                <a:ea typeface="Yu Gothic"/>
                <a:cs typeface="Yu Gothic"/>
              </a:rPr>
              <a:t>参考图中存在两台 MID Server，但没有展示 NSG、明确出站方式、端口和管理路径。</a:t>
            </a:r>
          </a:p>
        </p:txBody>
      </p:sp>
    </p:spTree>
    <p:extLst>
      <p:ext uri="{BB962C8B-B14F-4D97-AF65-F5344CB8AC3E}">
        <p14:creationId xmlns:p14="http://schemas.microsoft.com/office/powerpoint/2010/main" val="7589499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6376DB2-3817-4A31-A913-C046164329C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057B8"/>
          </a:solidFill>
          <a:ln xmlns:a="http://schemas.openxmlformats.org/drawingml/2006/main" w="0">
            <a:solidFill>
              <a:srgbClr val="0057B8"/>
            </a:solidFill>
            <a:prstDash val="solid"/>
          </a:ln>
        </p:spPr>
      </p:sp>
      <p:sp>
        <p:nvSpPr>
          <p:cNvPr id="2" name="">
            <a:extLst xmlns:a="http://schemas.openxmlformats.org/drawingml/2006/main">
              <a:ext uri="{FF2B5EF4-FFF2-40B4-BE49-F238E27FC236}">
                <a16:creationId xmlns:a16="http://schemas.microsoft.com/office/drawing/2014/main" id="{68696979-1832-4D78-BB63-07F2D1536BE5}"/>
              </a:ext>
            </a:extLst>
          </p:cNvPr>
          <p:cNvSpPr>
            <a:spLocks xmlns:a="http://schemas.openxmlformats.org/drawingml/2006/main" noGrp="1"/>
          </p:cNvSpPr>
          <p:nvPr/>
        </p:nvSpPr>
        <p:spPr>
          <a:xfrm xmlns:a="http://schemas.openxmlformats.org/drawingml/2006/main">
            <a:off x="514350" y="257175"/>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1F2933"/>
                </a:solidFill>
                <a:latin typeface="Yu Gothic"/>
                <a:ea typeface="Yu Gothic"/>
                <a:cs typeface="Yu Gothic"/>
              </a:defRPr>
            </a:pPr>
            <a:r>
              <a:rPr sz="1425" b="1">
                <a:solidFill>
                  <a:srgbClr val="1F2933"/>
                </a:solidFill>
                <a:latin typeface="Yu Gothic"/>
                <a:ea typeface="Yu Gothic"/>
                <a:cs typeface="Yu Gothic"/>
              </a:rPr>
              <a:t>MID Server / Azure / ServiceNow</a:t>
            </a:r>
          </a:p>
        </p:txBody>
      </p:sp>
      <p:sp>
        <p:nvSpPr>
          <p:cNvPr id="3" name="">
            <a:extLst xmlns:a="http://schemas.openxmlformats.org/drawingml/2006/main">
              <a:ext uri="{FF2B5EF4-FFF2-40B4-BE49-F238E27FC236}">
                <a16:creationId xmlns:a16="http://schemas.microsoft.com/office/drawing/2014/main" id="{4501C1B5-7C01-467B-8A07-335CC8519ADD}"/>
              </a:ext>
            </a:extLst>
          </p:cNvPr>
          <p:cNvSpPr>
            <a:spLocks xmlns:a="http://schemas.openxmlformats.org/drawingml/2006/main" noGrp="1"/>
          </p:cNvSpPr>
          <p:nvPr/>
        </p:nvSpPr>
        <p:spPr>
          <a:xfrm xmlns:a="http://schemas.openxmlformats.org/drawingml/2006/main">
            <a:off x="514350" y="5810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2325" b="1">
                <a:solidFill>
                  <a:srgbClr val="102A43"/>
                </a:solidFill>
                <a:latin typeface="Yu Gothic"/>
                <a:ea typeface="Yu Gothic"/>
                <a:cs typeface="Yu Gothic"/>
              </a:defRPr>
            </a:pPr>
            <a:r>
              <a:rPr sz="2325" b="1">
                <a:solidFill>
                  <a:srgbClr val="102A43"/>
                </a:solidFill>
                <a:latin typeface="Yu Gothic"/>
                <a:ea typeface="Yu Gothic"/>
                <a:cs typeface="Yu Gothic"/>
              </a:rPr>
              <a:t>个人 Azure 账户的推荐 PoC 架构</a:t>
            </a:r>
          </a:p>
        </p:txBody>
      </p:sp>
      <p:sp>
        <p:nvSpPr>
          <p:cNvPr id="4" name="">
            <a:extLst xmlns:a="http://schemas.openxmlformats.org/drawingml/2006/main">
              <a:ext uri="{FF2B5EF4-FFF2-40B4-BE49-F238E27FC236}">
                <a16:creationId xmlns:a16="http://schemas.microsoft.com/office/drawing/2014/main" id="{CD4BAD08-B0CD-438E-B230-F69358349C69}"/>
              </a:ext>
            </a:extLst>
          </p:cNvPr>
          <p:cNvSpPr>
            <a:spLocks xmlns:a="http://schemas.openxmlformats.org/drawingml/2006/main" noGrp="1"/>
          </p:cNvSpPr>
          <p:nvPr/>
        </p:nvSpPr>
        <p:spPr>
          <a:xfrm xmlns:a="http://schemas.openxmlformats.org/drawingml/2006/main">
            <a:off x="533400" y="1104900"/>
            <a:ext cx="885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0">
                <a:solidFill>
                  <a:srgbClr val="65717C"/>
                </a:solidFill>
                <a:latin typeface="Yu Gothic"/>
                <a:ea typeface="Yu Gothic"/>
                <a:cs typeface="Yu Gothic"/>
              </a:defRPr>
            </a:pPr>
            <a:r>
              <a:rPr sz="1125" b="0">
                <a:solidFill>
                  <a:srgbClr val="65717C"/>
                </a:solidFill>
                <a:latin typeface="Yu Gothic"/>
                <a:ea typeface="Yu Gothic"/>
                <a:cs typeface="Yu Gothic"/>
              </a:rPr>
              <a:t>保留 MID Server 到 ServiceNow 的最小必要路径，减少不需要的企业网络组件</a:t>
            </a:r>
          </a:p>
        </p:txBody>
      </p:sp>
      <p:sp>
        <p:nvSpPr>
          <p:cNvPr id="5" name="">
            <a:extLst xmlns:a="http://schemas.openxmlformats.org/drawingml/2006/main">
              <a:ext uri="{FF2B5EF4-FFF2-40B4-BE49-F238E27FC236}">
                <a16:creationId xmlns:a16="http://schemas.microsoft.com/office/drawing/2014/main" id="{5E6A1CA7-B278-4909-B947-CAD3A065656A}"/>
              </a:ext>
            </a:extLst>
          </p:cNvPr>
          <p:cNvSpPr>
            <a:spLocks xmlns:a="http://schemas.openxmlformats.org/drawingml/2006/main" noGrp="1"/>
          </p:cNvSpPr>
          <p:nvPr/>
        </p:nvSpPr>
        <p:spPr>
          <a:xfrm xmlns:a="http://schemas.openxmlformats.org/drawingml/2006/main">
            <a:off x="10572750" y="285750"/>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050" b="0">
                <a:solidFill>
                  <a:srgbClr val="65717C"/>
                </a:solidFill>
                <a:latin typeface="Yu Gothic"/>
                <a:ea typeface="Yu Gothic"/>
                <a:cs typeface="Yu Gothic"/>
              </a:defRPr>
            </a:pPr>
            <a:r>
              <a:rPr sz="1050" b="0">
                <a:solidFill>
                  <a:srgbClr val="65717C"/>
                </a:solidFill>
                <a:latin typeface="Yu Gothic"/>
                <a:ea typeface="Yu Gothic"/>
                <a:cs typeface="Yu Gothic"/>
              </a:rPr>
              <a:t>ITOM / PoC</a:t>
            </a:r>
          </a:p>
        </p:txBody>
      </p:sp>
      <p:sp>
        <p:nvSpPr>
          <p:cNvPr id="6" name="">
            <a:extLst xmlns:a="http://schemas.openxmlformats.org/drawingml/2006/main">
              <a:ext uri="{FF2B5EF4-FFF2-40B4-BE49-F238E27FC236}">
                <a16:creationId xmlns:a16="http://schemas.microsoft.com/office/drawing/2014/main" id="{105914F0-8688-49D8-A486-727A58D40387}"/>
              </a:ext>
            </a:extLst>
          </p:cNvPr>
          <p:cNvSpPr>
            <a:spLocks xmlns:a="http://schemas.openxmlformats.org/drawingml/2006/main" noGrp="1"/>
          </p:cNvSpPr>
          <p:nvPr/>
        </p:nvSpPr>
        <p:spPr>
          <a:xfrm xmlns:a="http://schemas.openxmlformats.org/drawingml/2006/main">
            <a:off x="666750" y="1809750"/>
            <a:ext cx="6762750" cy="3857625"/>
          </a:xfrm>
          <a:prstGeom xmlns:a="http://schemas.openxmlformats.org/drawingml/2006/main" prst="rect">
            <a:avLst/>
          </a:prstGeom>
          <a:solidFill xmlns:a="http://schemas.openxmlformats.org/drawingml/2006/main">
            <a:srgbClr val="FFFFFF"/>
          </a:solidFill>
          <a:ln xmlns:a="http://schemas.openxmlformats.org/drawingml/2006/main" w="11430">
            <a:solidFill>
              <a:srgbClr val="7B8794"/>
            </a:solidFill>
            <a:prstDash val="solid"/>
          </a:ln>
        </p:spPr>
      </p:sp>
      <p:sp>
        <p:nvSpPr>
          <p:cNvPr id="7" name="">
            <a:extLst xmlns:a="http://schemas.openxmlformats.org/drawingml/2006/main">
              <a:ext uri="{FF2B5EF4-FFF2-40B4-BE49-F238E27FC236}">
                <a16:creationId xmlns:a16="http://schemas.microsoft.com/office/drawing/2014/main" id="{DA69B5B4-65CD-4841-9D1A-4520E87B05C9}"/>
              </a:ext>
            </a:extLst>
          </p:cNvPr>
          <p:cNvSpPr>
            <a:spLocks xmlns:a="http://schemas.openxmlformats.org/drawingml/2006/main" noGrp="1"/>
          </p:cNvSpPr>
          <p:nvPr/>
        </p:nvSpPr>
        <p:spPr>
          <a:xfrm xmlns:a="http://schemas.openxmlformats.org/drawingml/2006/main">
            <a:off x="876300" y="192405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102A43"/>
                </a:solidFill>
                <a:latin typeface="Yu Gothic"/>
                <a:ea typeface="Yu Gothic"/>
                <a:cs typeface="Yu Gothic"/>
              </a:defRPr>
            </a:pPr>
            <a:r>
              <a:rPr sz="1350" b="1">
                <a:solidFill>
                  <a:srgbClr val="102A43"/>
                </a:solidFill>
                <a:latin typeface="Yu Gothic"/>
                <a:ea typeface="Yu Gothic"/>
                <a:cs typeface="Yu Gothic"/>
              </a:rPr>
              <a:t>Azure Subscription / Resource Group</a:t>
            </a:r>
          </a:p>
        </p:txBody>
      </p:sp>
      <p:sp>
        <p:nvSpPr>
          <p:cNvPr id="8" name="">
            <a:extLst xmlns:a="http://schemas.openxmlformats.org/drawingml/2006/main">
              <a:ext uri="{FF2B5EF4-FFF2-40B4-BE49-F238E27FC236}">
                <a16:creationId xmlns:a16="http://schemas.microsoft.com/office/drawing/2014/main" id="{CD1D8720-7123-4A6A-9772-7C15409AB8ED}"/>
              </a:ext>
            </a:extLst>
          </p:cNvPr>
          <p:cNvSpPr>
            <a:spLocks xmlns:a="http://schemas.openxmlformats.org/drawingml/2006/main" noGrp="1"/>
          </p:cNvSpPr>
          <p:nvPr/>
        </p:nvSpPr>
        <p:spPr>
          <a:xfrm xmlns:a="http://schemas.openxmlformats.org/drawingml/2006/main">
            <a:off x="895350" y="2381250"/>
            <a:ext cx="6286500" cy="3000375"/>
          </a:xfrm>
          <a:prstGeom xmlns:a="http://schemas.openxmlformats.org/drawingml/2006/main" prst="rect">
            <a:avLst/>
          </a:prstGeom>
          <a:solidFill xmlns:a="http://schemas.openxmlformats.org/drawingml/2006/main">
            <a:srgbClr val="FFFFFF"/>
          </a:solidFill>
          <a:ln xmlns:a="http://schemas.openxmlformats.org/drawingml/2006/main" w="11430">
            <a:solidFill>
              <a:srgbClr val="7B8794"/>
            </a:solidFill>
            <a:prstDash val="solid"/>
          </a:ln>
        </p:spPr>
      </p:sp>
      <p:sp>
        <p:nvSpPr>
          <p:cNvPr id="9" name="">
            <a:extLst xmlns:a="http://schemas.openxmlformats.org/drawingml/2006/main">
              <a:ext uri="{FF2B5EF4-FFF2-40B4-BE49-F238E27FC236}">
                <a16:creationId xmlns:a16="http://schemas.microsoft.com/office/drawing/2014/main" id="{EC55E53F-5CAC-4976-BF15-736987B64025}"/>
              </a:ext>
            </a:extLst>
          </p:cNvPr>
          <p:cNvSpPr>
            <a:spLocks xmlns:a="http://schemas.openxmlformats.org/drawingml/2006/main" noGrp="1"/>
          </p:cNvSpPr>
          <p:nvPr/>
        </p:nvSpPr>
        <p:spPr>
          <a:xfrm xmlns:a="http://schemas.openxmlformats.org/drawingml/2006/main">
            <a:off x="1104900" y="250507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1">
                <a:solidFill>
                  <a:srgbClr val="102A43"/>
                </a:solidFill>
                <a:latin typeface="Yu Gothic"/>
                <a:ea typeface="Yu Gothic"/>
                <a:cs typeface="Yu Gothic"/>
              </a:defRPr>
            </a:pPr>
            <a:r>
              <a:rPr sz="1275" b="1">
                <a:solidFill>
                  <a:srgbClr val="102A43"/>
                </a:solidFill>
                <a:latin typeface="Yu Gothic"/>
                <a:ea typeface="Yu Gothic"/>
                <a:cs typeface="Yu Gothic"/>
              </a:rPr>
              <a:t>VNet: 10.x.x.0/24</a:t>
            </a:r>
          </a:p>
        </p:txBody>
      </p:sp>
      <p:sp>
        <p:nvSpPr>
          <p:cNvPr id="10" name="">
            <a:extLst xmlns:a="http://schemas.openxmlformats.org/drawingml/2006/main">
              <a:ext uri="{FF2B5EF4-FFF2-40B4-BE49-F238E27FC236}">
                <a16:creationId xmlns:a16="http://schemas.microsoft.com/office/drawing/2014/main" id="{74EF51D8-7B68-4FCF-A43A-8BD394674B65}"/>
              </a:ext>
            </a:extLst>
          </p:cNvPr>
          <p:cNvSpPr>
            <a:spLocks xmlns:a="http://schemas.openxmlformats.org/drawingml/2006/main" noGrp="1"/>
          </p:cNvSpPr>
          <p:nvPr/>
        </p:nvSpPr>
        <p:spPr>
          <a:xfrm xmlns:a="http://schemas.openxmlformats.org/drawingml/2006/main">
            <a:off x="1143000" y="2952750"/>
            <a:ext cx="2190750" cy="742950"/>
          </a:xfrm>
          <a:prstGeom xmlns:a="http://schemas.openxmlformats.org/drawingml/2006/main" prst="rect">
            <a:avLst/>
          </a:prstGeom>
          <a:solidFill xmlns:a="http://schemas.openxmlformats.org/drawingml/2006/main">
            <a:srgbClr val="FFFFFF"/>
          </a:solidFill>
          <a:ln xmlns:a="http://schemas.openxmlformats.org/drawingml/2006/main" w="10478">
            <a:solidFill>
              <a:srgbClr val="7B8794"/>
            </a:solidFill>
            <a:prstDash val="dash"/>
          </a:ln>
        </p:spPr>
      </p:sp>
      <p:sp>
        <p:nvSpPr>
          <p:cNvPr id="11" name="">
            <a:extLst xmlns:a="http://schemas.openxmlformats.org/drawingml/2006/main">
              <a:ext uri="{FF2B5EF4-FFF2-40B4-BE49-F238E27FC236}">
                <a16:creationId xmlns:a16="http://schemas.microsoft.com/office/drawing/2014/main" id="{2D912AA7-FFCC-4DB1-9070-891A0C14584C}"/>
              </a:ext>
            </a:extLst>
          </p:cNvPr>
          <p:cNvSpPr>
            <a:spLocks xmlns:a="http://schemas.openxmlformats.org/drawingml/2006/main" noGrp="1"/>
          </p:cNvSpPr>
          <p:nvPr/>
        </p:nvSpPr>
        <p:spPr>
          <a:xfrm xmlns:a="http://schemas.openxmlformats.org/drawingml/2006/main">
            <a:off x="1285875" y="30670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1">
                <a:solidFill>
                  <a:srgbClr val="1F2933"/>
                </a:solidFill>
                <a:latin typeface="Yu Gothic"/>
                <a:ea typeface="Yu Gothic"/>
                <a:cs typeface="Yu Gothic"/>
              </a:defRPr>
            </a:pPr>
            <a:r>
              <a:rPr sz="1125" b="1">
                <a:solidFill>
                  <a:srgbClr val="1F2933"/>
                </a:solidFill>
                <a:latin typeface="Yu Gothic"/>
                <a:ea typeface="Yu Gothic"/>
                <a:cs typeface="Yu Gothic"/>
              </a:rPr>
              <a:t>AzureBastionSubnet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880da3df65d1411f">
            <a:extLst>
              <a:ext uri="{96DAC541-7B7A-43D3-8B79-37D633B846F1}">
                <asvg:svgBlip xmlns:asvg="http://schemas.microsoft.com/office/drawing/2016/SVG/main" r:embed="R75358357707f427c"/>
              </a:ext>
            </a:extLst>
          </a:blip>
          <a:stretch xmlns:a="http://schemas.openxmlformats.org/drawingml/2006/main"/>
        </p:blipFill>
        <p:spPr>
          <a:xfrm xmlns:a="http://schemas.openxmlformats.org/drawingml/2006/main">
            <a:off x="1314450" y="3324225"/>
            <a:ext cx="314325" cy="2381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1BF330A-55EF-4A62-9DC6-87F3EF1A8255}"/>
              </a:ext>
            </a:extLst>
          </p:cNvPr>
          <p:cNvSpPr>
            <a:spLocks xmlns:a="http://schemas.openxmlformats.org/drawingml/2006/main" noGrp="1"/>
          </p:cNvSpPr>
          <p:nvPr/>
        </p:nvSpPr>
        <p:spPr>
          <a:xfrm xmlns:a="http://schemas.openxmlformats.org/drawingml/2006/main">
            <a:off x="1714500" y="332422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65717C"/>
                </a:solidFill>
                <a:latin typeface="Yu Gothic"/>
                <a:ea typeface="Yu Gothic"/>
                <a:cs typeface="Yu Gothic"/>
              </a:defRPr>
            </a:pPr>
            <a:r>
              <a:rPr sz="825" b="0">
                <a:solidFill>
                  <a:srgbClr val="65717C"/>
                </a:solidFill>
                <a:latin typeface="Yu Gothic"/>
                <a:ea typeface="Yu Gothic"/>
                <a:cs typeface="Yu Gothic"/>
              </a:rPr>
              <a:t>管理路径（可选）</a:t>
            </a:r>
          </a:p>
        </p:txBody>
      </p:sp>
      <p:sp>
        <p:nvSpPr>
          <p:cNvPr id="14" name="">
            <a:extLst xmlns:a="http://schemas.openxmlformats.org/drawingml/2006/main">
              <a:ext uri="{FF2B5EF4-FFF2-40B4-BE49-F238E27FC236}">
                <a16:creationId xmlns:a16="http://schemas.microsoft.com/office/drawing/2014/main" id="{93DF7521-19E0-48CE-BE9B-906FD5F922E0}"/>
              </a:ext>
            </a:extLst>
          </p:cNvPr>
          <p:cNvSpPr>
            <a:spLocks xmlns:a="http://schemas.openxmlformats.org/drawingml/2006/main" noGrp="1"/>
          </p:cNvSpPr>
          <p:nvPr/>
        </p:nvSpPr>
        <p:spPr>
          <a:xfrm xmlns:a="http://schemas.openxmlformats.org/drawingml/2006/main">
            <a:off x="1143000" y="4000500"/>
            <a:ext cx="5238750" cy="1123950"/>
          </a:xfrm>
          <a:prstGeom xmlns:a="http://schemas.openxmlformats.org/drawingml/2006/main" prst="rect">
            <a:avLst/>
          </a:prstGeom>
          <a:solidFill xmlns:a="http://schemas.openxmlformats.org/drawingml/2006/main">
            <a:srgbClr val="FFFFFF"/>
          </a:solidFill>
          <a:ln xmlns:a="http://schemas.openxmlformats.org/drawingml/2006/main" w="10478">
            <a:solidFill>
              <a:srgbClr val="7B8794"/>
            </a:solidFill>
            <a:prstDash val="dash"/>
          </a:ln>
        </p:spPr>
      </p:sp>
      <p:sp>
        <p:nvSpPr>
          <p:cNvPr id="15" name="">
            <a:extLst xmlns:a="http://schemas.openxmlformats.org/drawingml/2006/main">
              <a:ext uri="{FF2B5EF4-FFF2-40B4-BE49-F238E27FC236}">
                <a16:creationId xmlns:a16="http://schemas.microsoft.com/office/drawing/2014/main" id="{4B1D3B0F-8C41-4323-9952-AC642E925814}"/>
              </a:ext>
            </a:extLst>
          </p:cNvPr>
          <p:cNvSpPr>
            <a:spLocks xmlns:a="http://schemas.openxmlformats.org/drawingml/2006/main" noGrp="1"/>
          </p:cNvSpPr>
          <p:nvPr/>
        </p:nvSpPr>
        <p:spPr>
          <a:xfrm xmlns:a="http://schemas.openxmlformats.org/drawingml/2006/main">
            <a:off x="1295400" y="41052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1">
                <a:solidFill>
                  <a:srgbClr val="1F2933"/>
                </a:solidFill>
                <a:latin typeface="Yu Gothic"/>
                <a:ea typeface="Yu Gothic"/>
                <a:cs typeface="Yu Gothic"/>
              </a:defRPr>
            </a:pPr>
            <a:r>
              <a:rPr sz="1125" b="1">
                <a:solidFill>
                  <a:srgbClr val="1F2933"/>
                </a:solidFill>
                <a:latin typeface="Yu Gothic"/>
                <a:ea typeface="Yu Gothic"/>
                <a:cs typeface="Yu Gothic"/>
              </a:rPr>
              <a:t>MID Server Subnet</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abe4327ab0d94e87">
            <a:extLst>
              <a:ext uri="{96DAC541-7B7A-43D3-8B79-37D633B846F1}">
                <asvg:svgBlip xmlns:asvg="http://schemas.microsoft.com/office/drawing/2016/SVG/main" r:embed="Re8fe30a2e0ed4960"/>
              </a:ext>
            </a:extLst>
          </a:blip>
          <a:stretch xmlns:a="http://schemas.openxmlformats.org/drawingml/2006/main"/>
        </p:blipFill>
        <p:spPr>
          <a:xfrm xmlns:a="http://schemas.openxmlformats.org/drawingml/2006/main">
            <a:off x="1304925" y="4419600"/>
            <a:ext cx="323850" cy="247650"/>
          </a:xfrm>
          <a:prstGeom xmlns:a="http://schemas.openxmlformats.org/drawingml/2006/main" prst="rect">
            <a:avLst/>
          </a:prstGeom>
        </p:spPr>
      </p:pic>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01b2b3138e4f4bc5">
            <a:extLst>
              <a:ext uri="{96DAC541-7B7A-43D3-8B79-37D633B846F1}">
                <asvg:svgBlip xmlns:asvg="http://schemas.microsoft.com/office/drawing/2016/SVG/main" r:embed="Ra933edd68a5a4788"/>
              </a:ext>
            </a:extLst>
          </a:blip>
          <a:stretch xmlns:a="http://schemas.openxmlformats.org/drawingml/2006/main"/>
        </p:blipFill>
        <p:spPr>
          <a:xfrm xmlns:a="http://schemas.openxmlformats.org/drawingml/2006/main">
            <a:off x="2857500" y="4362450"/>
            <a:ext cx="581025" cy="485775"/>
          </a:xfrm>
          <a:prstGeom xmlns:a="http://schemas.openxmlformats.org/drawingml/2006/main" prst="rect">
            <a:avLst/>
          </a:prstGeom>
        </p:spPr>
      </p:pic>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306d9930021c431f">
            <a:extLst>
              <a:ext uri="{96DAC541-7B7A-43D3-8B79-37D633B846F1}">
                <asvg:svgBlip xmlns:asvg="http://schemas.microsoft.com/office/drawing/2016/SVG/main" r:embed="R45ea939991f149f7"/>
              </a:ext>
            </a:extLst>
          </a:blip>
          <a:stretch xmlns:a="http://schemas.openxmlformats.org/drawingml/2006/main"/>
        </p:blipFill>
        <p:spPr>
          <a:xfrm xmlns:a="http://schemas.openxmlformats.org/drawingml/2006/main">
            <a:off x="4476750" y="4362450"/>
            <a:ext cx="581025" cy="48577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93D36522-CB73-46FA-A2B8-8699706E163B}"/>
              </a:ext>
            </a:extLst>
          </p:cNvPr>
          <p:cNvSpPr>
            <a:spLocks xmlns:a="http://schemas.openxmlformats.org/drawingml/2006/main" noGrp="1"/>
          </p:cNvSpPr>
          <p:nvPr/>
        </p:nvSpPr>
        <p:spPr>
          <a:xfrm xmlns:a="http://schemas.openxmlformats.org/drawingml/2006/main">
            <a:off x="2714625" y="487680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825" b="0">
                <a:solidFill>
                  <a:srgbClr val="1F2933"/>
                </a:solidFill>
                <a:latin typeface="Yu Gothic"/>
                <a:ea typeface="Yu Gothic"/>
                <a:cs typeface="Yu Gothic"/>
              </a:defRPr>
            </a:pPr>
            <a:r>
              <a:rPr sz="825" b="0">
                <a:solidFill>
                  <a:srgbClr val="1F2933"/>
                </a:solidFill>
                <a:latin typeface="Yu Gothic"/>
                <a:ea typeface="Yu Gothic"/>
                <a:cs typeface="Yu Gothic"/>
              </a:rPr>
              <a:t>MID Server 01</a:t>
            </a:r>
          </a:p>
        </p:txBody>
      </p:sp>
      <p:sp>
        <p:nvSpPr>
          <p:cNvPr id="20" name="">
            <a:extLst xmlns:a="http://schemas.openxmlformats.org/drawingml/2006/main">
              <a:ext uri="{FF2B5EF4-FFF2-40B4-BE49-F238E27FC236}">
                <a16:creationId xmlns:a16="http://schemas.microsoft.com/office/drawing/2014/main" id="{FA1C8582-7E15-4D1C-9BE5-4B5B161C46F0}"/>
              </a:ext>
            </a:extLst>
          </p:cNvPr>
          <p:cNvSpPr>
            <a:spLocks xmlns:a="http://schemas.openxmlformats.org/drawingml/2006/main" noGrp="1"/>
          </p:cNvSpPr>
          <p:nvPr/>
        </p:nvSpPr>
        <p:spPr>
          <a:xfrm xmlns:a="http://schemas.openxmlformats.org/drawingml/2006/main">
            <a:off x="4333875" y="487680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825" b="0">
                <a:solidFill>
                  <a:srgbClr val="1F2933"/>
                </a:solidFill>
                <a:latin typeface="Yu Gothic"/>
                <a:ea typeface="Yu Gothic"/>
                <a:cs typeface="Yu Gothic"/>
              </a:defRPr>
            </a:pPr>
            <a:r>
              <a:rPr sz="825" b="0">
                <a:solidFill>
                  <a:srgbClr val="1F2933"/>
                </a:solidFill>
                <a:latin typeface="Yu Gothic"/>
                <a:ea typeface="Yu Gothic"/>
                <a:cs typeface="Yu Gothic"/>
              </a:rPr>
              <a:t>MID Server 02</a:t>
            </a:r>
          </a:p>
        </p:txBody>
      </p:sp>
      <p:sp>
        <p:nvSpPr>
          <p:cNvPr id="21" name="">
            <a:extLst xmlns:a="http://schemas.openxmlformats.org/drawingml/2006/main">
              <a:ext uri="{FF2B5EF4-FFF2-40B4-BE49-F238E27FC236}">
                <a16:creationId xmlns:a16="http://schemas.microsoft.com/office/drawing/2014/main" id="{514496D0-4990-4351-A896-802567CAEE0B}"/>
              </a:ext>
            </a:extLst>
          </p:cNvPr>
          <p:cNvSpPr>
            <a:spLocks xmlns:a="http://schemas.openxmlformats.org/drawingml/2006/main" noGrp="1"/>
          </p:cNvSpPr>
          <p:nvPr/>
        </p:nvSpPr>
        <p:spPr>
          <a:xfrm xmlns:a="http://schemas.openxmlformats.org/drawingml/2006/main">
            <a:off x="5334000" y="3190875"/>
            <a:ext cx="1381125" cy="495300"/>
          </a:xfrm>
          <a:prstGeom xmlns:a="http://schemas.openxmlformats.org/drawingml/2006/main" prst="rect">
            <a:avLst/>
          </a:prstGeom>
          <a:solidFill xmlns:a="http://schemas.openxmlformats.org/drawingml/2006/main">
            <a:srgbClr val="EAF3FA"/>
          </a:solidFill>
          <a:ln xmlns:a="http://schemas.openxmlformats.org/drawingml/2006/main" w="9525">
            <a:solidFill>
              <a:srgbClr val="0057B8"/>
            </a:solidFill>
            <a:prstDash val="solid"/>
          </a:ln>
        </p:spPr>
      </p:sp>
      <p:sp>
        <p:nvSpPr>
          <p:cNvPr id="22" name="">
            <a:extLst xmlns:a="http://schemas.openxmlformats.org/drawingml/2006/main">
              <a:ext uri="{FF2B5EF4-FFF2-40B4-BE49-F238E27FC236}">
                <a16:creationId xmlns:a16="http://schemas.microsoft.com/office/drawing/2014/main" id="{C6174DF9-1756-488C-9D43-773850FFCE68}"/>
              </a:ext>
            </a:extLst>
          </p:cNvPr>
          <p:cNvSpPr>
            <a:spLocks xmlns:a="http://schemas.openxmlformats.org/drawingml/2006/main" noGrp="1"/>
          </p:cNvSpPr>
          <p:nvPr/>
        </p:nvSpPr>
        <p:spPr>
          <a:xfrm xmlns:a="http://schemas.openxmlformats.org/drawingml/2006/main">
            <a:off x="5429250" y="3257550"/>
            <a:ext cx="1190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900" b="1">
                <a:solidFill>
                  <a:srgbClr val="102A43"/>
                </a:solidFill>
                <a:latin typeface="Yu Gothic"/>
                <a:ea typeface="Yu Gothic"/>
                <a:cs typeface="Yu Gothic"/>
              </a:defRPr>
            </a:pPr>
            <a:r>
              <a:rPr sz="900" b="1">
                <a:solidFill>
                  <a:srgbClr val="102A43"/>
                </a:solidFill>
                <a:latin typeface="Yu Gothic"/>
                <a:ea typeface="Yu Gothic"/>
                <a:cs typeface="Yu Gothic"/>
              </a:rPr>
              <a:t>NSG</a:t>
            </a:r>
          </a:p>
          <a:p xmlns:a="http://schemas.openxmlformats.org/drawingml/2006/main">
            <a:pPr algn="ctr">
              <a:defRPr sz="900" b="1">
                <a:solidFill>
                  <a:srgbClr val="102A43"/>
                </a:solidFill>
                <a:latin typeface="Yu Gothic"/>
                <a:ea typeface="Yu Gothic"/>
                <a:cs typeface="Yu Gothic"/>
              </a:defRPr>
            </a:pPr>
            <a:r>
              <a:rPr sz="900" b="1">
                <a:solidFill>
                  <a:srgbClr val="102A43"/>
                </a:solidFill>
                <a:latin typeface="Yu Gothic"/>
                <a:ea typeface="Yu Gothic"/>
                <a:cs typeface="Yu Gothic"/>
              </a:rPr>
              <a:t>管理规则</a:t>
            </a:r>
          </a:p>
        </p:txBody>
      </p:sp>
      <p:sp>
        <p:nvSpPr>
          <p:cNvPr id="23" name="">
            <a:extLst xmlns:a="http://schemas.openxmlformats.org/drawingml/2006/main">
              <a:ext uri="{FF2B5EF4-FFF2-40B4-BE49-F238E27FC236}">
                <a16:creationId xmlns:a16="http://schemas.microsoft.com/office/drawing/2014/main" id="{F5598D92-F7B6-4127-A761-968C66FC4B81}"/>
              </a:ext>
            </a:extLst>
          </p:cNvPr>
          <p:cNvSpPr>
            <a:spLocks xmlns:a="http://schemas.openxmlformats.org/drawingml/2006/main" noGrp="1"/>
          </p:cNvSpPr>
          <p:nvPr/>
        </p:nvSpPr>
        <p:spPr>
          <a:xfrm xmlns:a="http://schemas.openxmlformats.org/drawingml/2006/main">
            <a:off x="7810500" y="2428875"/>
            <a:ext cx="3333750" cy="1285875"/>
          </a:xfrm>
          <a:prstGeom xmlns:a="http://schemas.openxmlformats.org/drawingml/2006/main" prst="rect">
            <a:avLst/>
          </a:prstGeom>
          <a:solidFill xmlns:a="http://schemas.openxmlformats.org/drawingml/2006/main">
            <a:srgbClr val="FFFFFF"/>
          </a:solidFill>
          <a:ln xmlns:a="http://schemas.openxmlformats.org/drawingml/2006/main" w="11430">
            <a:solidFill>
              <a:srgbClr val="7B8794"/>
            </a:solidFill>
            <a:prstDash val="solid"/>
          </a:ln>
        </p:spPr>
      </p:sp>
      <p:sp>
        <p:nvSpPr>
          <p:cNvPr id="24" name="">
            <a:extLst xmlns:a="http://schemas.openxmlformats.org/drawingml/2006/main">
              <a:ext uri="{FF2B5EF4-FFF2-40B4-BE49-F238E27FC236}">
                <a16:creationId xmlns:a16="http://schemas.microsoft.com/office/drawing/2014/main" id="{178A436A-0A67-4DF8-9284-BDF8D8CC5299}"/>
              </a:ext>
            </a:extLst>
          </p:cNvPr>
          <p:cNvSpPr>
            <a:spLocks xmlns:a="http://schemas.openxmlformats.org/drawingml/2006/main" noGrp="1"/>
          </p:cNvSpPr>
          <p:nvPr/>
        </p:nvSpPr>
        <p:spPr>
          <a:xfrm xmlns:a="http://schemas.openxmlformats.org/drawingml/2006/main">
            <a:off x="8020050" y="2619375"/>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275" b="1">
                <a:solidFill>
                  <a:srgbClr val="102A43"/>
                </a:solidFill>
                <a:latin typeface="Yu Gothic"/>
                <a:ea typeface="Yu Gothic"/>
                <a:cs typeface="Yu Gothic"/>
              </a:defRPr>
            </a:pPr>
            <a:r>
              <a:rPr sz="1275" b="1">
                <a:solidFill>
                  <a:srgbClr val="102A43"/>
                </a:solidFill>
                <a:latin typeface="Yu Gothic"/>
                <a:ea typeface="Yu Gothic"/>
                <a:cs typeface="Yu Gothic"/>
              </a:rPr>
              <a:t>NAT Gateway / 明确出站</a:t>
            </a:r>
          </a:p>
        </p:txBody>
      </p:sp>
      <p:sp>
        <p:nvSpPr>
          <p:cNvPr id="25" name="">
            <a:extLst xmlns:a="http://schemas.openxmlformats.org/drawingml/2006/main">
              <a:ext uri="{FF2B5EF4-FFF2-40B4-BE49-F238E27FC236}">
                <a16:creationId xmlns:a16="http://schemas.microsoft.com/office/drawing/2014/main" id="{D0B0FDEE-E4E8-4637-BA60-BC3B498EDF1C}"/>
              </a:ext>
            </a:extLst>
          </p:cNvPr>
          <p:cNvSpPr>
            <a:spLocks xmlns:a="http://schemas.openxmlformats.org/drawingml/2006/main" noGrp="1"/>
          </p:cNvSpPr>
          <p:nvPr/>
        </p:nvSpPr>
        <p:spPr>
          <a:xfrm xmlns:a="http://schemas.openxmlformats.org/drawingml/2006/main">
            <a:off x="8020050" y="2952750"/>
            <a:ext cx="276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900" b="0">
                <a:solidFill>
                  <a:srgbClr val="65717C"/>
                </a:solidFill>
                <a:latin typeface="Yu Gothic"/>
                <a:ea typeface="Yu Gothic"/>
                <a:cs typeface="Yu Gothic"/>
              </a:defRPr>
            </a:pPr>
            <a:r>
              <a:rPr sz="900" b="0">
                <a:solidFill>
                  <a:srgbClr val="65717C"/>
                </a:solidFill>
                <a:latin typeface="Yu Gothic"/>
                <a:ea typeface="Yu Gothic"/>
                <a:cs typeface="Yu Gothic"/>
              </a:rPr>
              <a:t>MID Server 不配置公网 IP</a:t>
            </a:r>
          </a:p>
          <a:p xmlns:a="http://schemas.openxmlformats.org/drawingml/2006/main">
            <a:pPr algn="ctr">
              <a:defRPr sz="900" b="0">
                <a:solidFill>
                  <a:srgbClr val="65717C"/>
                </a:solidFill>
                <a:latin typeface="Yu Gothic"/>
                <a:ea typeface="Yu Gothic"/>
                <a:cs typeface="Yu Gothic"/>
              </a:defRPr>
            </a:pPr>
            <a:r>
              <a:rPr sz="900" b="0">
                <a:solidFill>
                  <a:srgbClr val="65717C"/>
                </a:solidFill>
                <a:latin typeface="Yu Gothic"/>
                <a:ea typeface="Yu Gothic"/>
                <a:cs typeface="Yu Gothic"/>
              </a:rPr>
              <a:t>统一从固定公网 IP 出站</a:t>
            </a:r>
          </a:p>
        </p:txBody>
      </p:sp>
      <p:sp>
        <p:nvSpPr>
          <p:cNvPr id="26" name="">
            <a:extLst xmlns:a="http://schemas.openxmlformats.org/drawingml/2006/main">
              <a:ext uri="{FF2B5EF4-FFF2-40B4-BE49-F238E27FC236}">
                <a16:creationId xmlns:a16="http://schemas.microsoft.com/office/drawing/2014/main" id="{C04125C5-90E2-4A5A-8026-EC884CB65B82}"/>
              </a:ext>
            </a:extLst>
          </p:cNvPr>
          <p:cNvSpPr>
            <a:spLocks xmlns:a="http://schemas.openxmlformats.org/drawingml/2006/main" noGrp="1"/>
          </p:cNvSpPr>
          <p:nvPr/>
        </p:nvSpPr>
        <p:spPr>
          <a:xfrm xmlns:a="http://schemas.openxmlformats.org/drawingml/2006/main">
            <a:off x="7810500" y="4333875"/>
            <a:ext cx="3333750" cy="1143000"/>
          </a:xfrm>
          <a:prstGeom xmlns:a="http://schemas.openxmlformats.org/drawingml/2006/main" prst="rect">
            <a:avLst/>
          </a:prstGeom>
          <a:solidFill xmlns:a="http://schemas.openxmlformats.org/drawingml/2006/main">
            <a:srgbClr val="FFFFFF"/>
          </a:solidFill>
          <a:ln xmlns:a="http://schemas.openxmlformats.org/drawingml/2006/main" w="11430">
            <a:solidFill>
              <a:srgbClr val="7B8794"/>
            </a:solidFill>
            <a:prstDash val="solid"/>
          </a:ln>
        </p:spPr>
      </p:sp>
      <p:sp>
        <p:nvSpPr>
          <p:cNvPr id="27" name="">
            <a:extLst xmlns:a="http://schemas.openxmlformats.org/drawingml/2006/main">
              <a:ext uri="{FF2B5EF4-FFF2-40B4-BE49-F238E27FC236}">
                <a16:creationId xmlns:a16="http://schemas.microsoft.com/office/drawing/2014/main" id="{81356313-0F1B-4747-B826-61267E84894D}"/>
              </a:ext>
            </a:extLst>
          </p:cNvPr>
          <p:cNvSpPr>
            <a:spLocks xmlns:a="http://schemas.openxmlformats.org/drawingml/2006/main" noGrp="1"/>
          </p:cNvSpPr>
          <p:nvPr/>
        </p:nvSpPr>
        <p:spPr>
          <a:xfrm xmlns:a="http://schemas.openxmlformats.org/drawingml/2006/main">
            <a:off x="8096250" y="4476750"/>
            <a:ext cx="276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2949"/>
          </a:bodyPr>
          <a:lstStyle xmlns:a="http://schemas.openxmlformats.org/drawingml/2006/main"/>
          <a:p xmlns:a="http://schemas.openxmlformats.org/drawingml/2006/main">
            <a:pPr algn="ctr">
              <a:defRPr sz="1950" b="1">
                <a:solidFill>
                  <a:srgbClr val="102A43"/>
                </a:solidFill>
                <a:latin typeface="Yu Gothic"/>
                <a:ea typeface="Yu Gothic"/>
                <a:cs typeface="Yu Gothic"/>
              </a:defRPr>
            </a:pPr>
            <a:r>
              <a:rPr sz="1950" b="1">
                <a:solidFill>
                  <a:srgbClr val="102A43"/>
                </a:solidFill>
                <a:latin typeface="Yu Gothic"/>
                <a:ea typeface="Yu Gothic"/>
                <a:cs typeface="Yu Gothic"/>
              </a:rPr>
              <a:t>servicenow.</a:t>
            </a:r>
          </a:p>
        </p:txBody>
      </p:sp>
      <p:sp>
        <p:nvSpPr>
          <p:cNvPr id="28" name="">
            <a:extLst xmlns:a="http://schemas.openxmlformats.org/drawingml/2006/main">
              <a:ext uri="{FF2B5EF4-FFF2-40B4-BE49-F238E27FC236}">
                <a16:creationId xmlns:a16="http://schemas.microsoft.com/office/drawing/2014/main" id="{9E73D862-CA49-46D3-9B6C-C4CB9B1B77E9}"/>
              </a:ext>
            </a:extLst>
          </p:cNvPr>
          <p:cNvSpPr>
            <a:spLocks xmlns:a="http://schemas.openxmlformats.org/drawingml/2006/main" noGrp="1"/>
          </p:cNvSpPr>
          <p:nvPr/>
        </p:nvSpPr>
        <p:spPr>
          <a:xfrm xmlns:a="http://schemas.openxmlformats.org/drawingml/2006/main">
            <a:off x="8096250" y="4886325"/>
            <a:ext cx="276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900" b="0">
                <a:solidFill>
                  <a:srgbClr val="65717C"/>
                </a:solidFill>
                <a:latin typeface="Yu Gothic"/>
                <a:ea typeface="Yu Gothic"/>
                <a:cs typeface="Yu Gothic"/>
              </a:defRPr>
            </a:pPr>
            <a:r>
              <a:rPr sz="900" b="0">
                <a:solidFill>
                  <a:srgbClr val="65717C"/>
                </a:solidFill>
                <a:latin typeface="Yu Gothic"/>
                <a:ea typeface="Yu Gothic"/>
                <a:cs typeface="Yu Gothic"/>
              </a:rPr>
              <a:t>ServiceNow instance</a:t>
            </a:r>
          </a:p>
        </p:txBody>
      </p:sp>
      <p:sp>
        <p:nvSpPr>
          <p:cNvPr id="29" name="">
            <a:extLst xmlns:a="http://schemas.openxmlformats.org/drawingml/2006/main">
              <a:ext uri="{FF2B5EF4-FFF2-40B4-BE49-F238E27FC236}">
                <a16:creationId xmlns:a16="http://schemas.microsoft.com/office/drawing/2014/main" id="{B91953CB-CADB-4250-A7B2-E084CD0904DA}"/>
              </a:ext>
            </a:extLst>
          </p:cNvPr>
          <p:cNvSpPr>
            <a:spLocks xmlns:a="http://schemas.openxmlformats.org/drawingml/2006/main" noGrp="1"/>
          </p:cNvSpPr>
          <p:nvPr/>
        </p:nvSpPr>
        <p:spPr>
          <a:xfrm xmlns:a="http://schemas.openxmlformats.org/drawingml/2006/main">
            <a:off x="6381750" y="4572000"/>
            <a:ext cx="1428750" cy="0"/>
          </a:xfrm>
          <a:prstGeom xmlns:a="http://schemas.openxmlformats.org/drawingml/2006/main" prst="line">
            <a:avLst/>
          </a:prstGeom>
          <a:noFill xmlns:a="http://schemas.openxmlformats.org/drawingml/2006/main"/>
          <a:ln xmlns:a="http://schemas.openxmlformats.org/drawingml/2006/main" w="19050">
            <a:solidFill>
              <a:srgbClr val="0057B8"/>
            </a:solidFill>
            <a:prstDash val="solid"/>
          </a:ln>
        </p:spPr>
      </p:sp>
      <p:sp>
        <p:nvSpPr>
          <p:cNvPr id="30" name="">
            <a:extLst xmlns:a="http://schemas.openxmlformats.org/drawingml/2006/main">
              <a:ext uri="{FF2B5EF4-FFF2-40B4-BE49-F238E27FC236}">
                <a16:creationId xmlns:a16="http://schemas.microsoft.com/office/drawing/2014/main" id="{E1C839A3-33DE-4DB0-8CF9-4D17E76DA0CA}"/>
              </a:ext>
            </a:extLst>
          </p:cNvPr>
          <p:cNvSpPr>
            <a:spLocks xmlns:a="http://schemas.openxmlformats.org/drawingml/2006/main" noGrp="1"/>
          </p:cNvSpPr>
          <p:nvPr/>
        </p:nvSpPr>
        <p:spPr>
          <a:xfrm xmlns:a="http://schemas.openxmlformats.org/drawingml/2006/main">
            <a:off x="9477375" y="3714750"/>
            <a:ext cx="0" cy="619125"/>
          </a:xfrm>
          <a:prstGeom xmlns:a="http://schemas.openxmlformats.org/drawingml/2006/main" prst="line">
            <a:avLst/>
          </a:prstGeom>
          <a:noFill xmlns:a="http://schemas.openxmlformats.org/drawingml/2006/main"/>
          <a:ln xmlns:a="http://schemas.openxmlformats.org/drawingml/2006/main" w="19050">
            <a:solidFill>
              <a:srgbClr val="0057B8"/>
            </a:solidFill>
            <a:prstDash val="solid"/>
          </a:ln>
        </p:spPr>
      </p:sp>
      <p:sp>
        <p:nvSpPr>
          <p:cNvPr id="31" name="">
            <a:extLst xmlns:a="http://schemas.openxmlformats.org/drawingml/2006/main">
              <a:ext uri="{FF2B5EF4-FFF2-40B4-BE49-F238E27FC236}">
                <a16:creationId xmlns:a16="http://schemas.microsoft.com/office/drawing/2014/main" id="{A420FDB8-F5CC-41F7-91EA-714EE741A36C}"/>
              </a:ext>
            </a:extLst>
          </p:cNvPr>
          <p:cNvSpPr>
            <a:spLocks xmlns:a="http://schemas.openxmlformats.org/drawingml/2006/main" noGrp="1"/>
          </p:cNvSpPr>
          <p:nvPr/>
        </p:nvSpPr>
        <p:spPr>
          <a:xfrm xmlns:a="http://schemas.openxmlformats.org/drawingml/2006/main">
            <a:off x="3333750" y="3324225"/>
            <a:ext cx="1143000" cy="0"/>
          </a:xfrm>
          <a:prstGeom xmlns:a="http://schemas.openxmlformats.org/drawingml/2006/main" prst="line">
            <a:avLst/>
          </a:prstGeom>
          <a:noFill xmlns:a="http://schemas.openxmlformats.org/drawingml/2006/main"/>
          <a:ln xmlns:a="http://schemas.openxmlformats.org/drawingml/2006/main" w="14288">
            <a:solidFill>
              <a:srgbClr val="087A4B"/>
            </a:solidFill>
            <a:prstDash val="solid"/>
          </a:ln>
        </p:spPr>
      </p:sp>
      <p:sp>
        <p:nvSpPr>
          <p:cNvPr id="32" name="">
            <a:extLst xmlns:a="http://schemas.openxmlformats.org/drawingml/2006/main">
              <a:ext uri="{FF2B5EF4-FFF2-40B4-BE49-F238E27FC236}">
                <a16:creationId xmlns:a16="http://schemas.microsoft.com/office/drawing/2014/main" id="{56C930C2-20EC-4123-9BA4-F79DA315639E}"/>
              </a:ext>
            </a:extLst>
          </p:cNvPr>
          <p:cNvSpPr>
            <a:spLocks xmlns:a="http://schemas.openxmlformats.org/drawingml/2006/main" noGrp="1"/>
          </p:cNvSpPr>
          <p:nvPr/>
        </p:nvSpPr>
        <p:spPr>
          <a:xfrm xmlns:a="http://schemas.openxmlformats.org/drawingml/2006/main">
            <a:off x="3476625" y="31146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825" b="0">
                <a:solidFill>
                  <a:srgbClr val="087A4B"/>
                </a:solidFill>
                <a:latin typeface="Yu Gothic"/>
                <a:ea typeface="Yu Gothic"/>
                <a:cs typeface="Yu Gothic"/>
              </a:defRPr>
            </a:pPr>
            <a:r>
              <a:rPr sz="825" b="0">
                <a:solidFill>
                  <a:srgbClr val="087A4B"/>
                </a:solidFill>
                <a:latin typeface="Yu Gothic"/>
                <a:ea typeface="Yu Gothic"/>
                <a:cs typeface="Yu Gothic"/>
              </a:rPr>
              <a:t>管理者 → Bastion（可选）</a:t>
            </a:r>
          </a:p>
        </p:txBody>
      </p:sp>
      <p:sp>
        <p:nvSpPr>
          <p:cNvPr id="33" name="">
            <a:extLst xmlns:a="http://schemas.openxmlformats.org/drawingml/2006/main">
              <a:ext uri="{FF2B5EF4-FFF2-40B4-BE49-F238E27FC236}">
                <a16:creationId xmlns:a16="http://schemas.microsoft.com/office/drawing/2014/main" id="{0DE72B30-9F39-4E0E-A30E-225AB89E79F6}"/>
              </a:ext>
            </a:extLst>
          </p:cNvPr>
          <p:cNvSpPr>
            <a:spLocks xmlns:a="http://schemas.openxmlformats.org/drawingml/2006/main" noGrp="1"/>
          </p:cNvSpPr>
          <p:nvPr/>
        </p:nvSpPr>
        <p:spPr>
          <a:xfrm xmlns:a="http://schemas.openxmlformats.org/drawingml/2006/main">
            <a:off x="838200" y="5953125"/>
            <a:ext cx="1047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050" b="1">
                <a:solidFill>
                  <a:srgbClr val="102A43"/>
                </a:solidFill>
                <a:latin typeface="Yu Gothic"/>
                <a:ea typeface="Yu Gothic"/>
                <a:cs typeface="Yu Gothic"/>
              </a:defRPr>
            </a:pPr>
            <a:r>
              <a:rPr sz="1050" b="1">
                <a:solidFill>
                  <a:srgbClr val="102A43"/>
                </a:solidFill>
                <a:latin typeface="Yu Gothic"/>
                <a:ea typeface="Yu Gothic"/>
                <a:cs typeface="Yu Gothic"/>
              </a:rPr>
              <a:t>推荐：无公网 IP、NSG 限制、固定出站、两台 MID Server 做冗余</a:t>
            </a:r>
          </a:p>
        </p:txBody>
      </p:sp>
    </p:spTree>
    <p:extLst>
      <p:ext uri="{BB962C8B-B14F-4D97-AF65-F5344CB8AC3E}">
        <p14:creationId xmlns:p14="http://schemas.microsoft.com/office/powerpoint/2010/main" val="1745953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0878E8EE-8CD0-4D06-AE00-60CC7ACAA7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057B8"/>
          </a:solidFill>
          <a:ln xmlns:a="http://schemas.openxmlformats.org/drawingml/2006/main" w="0">
            <a:solidFill>
              <a:srgbClr val="0057B8"/>
            </a:solidFill>
            <a:prstDash val="solid"/>
          </a:ln>
        </p:spPr>
      </p:sp>
      <p:sp>
        <p:nvSpPr>
          <p:cNvPr id="2" name="">
            <a:extLst xmlns:a="http://schemas.openxmlformats.org/drawingml/2006/main">
              <a:ext uri="{FF2B5EF4-FFF2-40B4-BE49-F238E27FC236}">
                <a16:creationId xmlns:a16="http://schemas.microsoft.com/office/drawing/2014/main" id="{575EDF9E-8B4C-4F21-90D5-0037B782A6E8}"/>
              </a:ext>
            </a:extLst>
          </p:cNvPr>
          <p:cNvSpPr>
            <a:spLocks xmlns:a="http://schemas.openxmlformats.org/drawingml/2006/main" noGrp="1"/>
          </p:cNvSpPr>
          <p:nvPr/>
        </p:nvSpPr>
        <p:spPr>
          <a:xfrm xmlns:a="http://schemas.openxmlformats.org/drawingml/2006/main">
            <a:off x="514350" y="257175"/>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1F2933"/>
                </a:solidFill>
                <a:latin typeface="Yu Gothic"/>
                <a:ea typeface="Yu Gothic"/>
                <a:cs typeface="Yu Gothic"/>
              </a:defRPr>
            </a:pPr>
            <a:r>
              <a:rPr sz="1425" b="1">
                <a:solidFill>
                  <a:srgbClr val="1F2933"/>
                </a:solidFill>
                <a:latin typeface="Yu Gothic"/>
                <a:ea typeface="Yu Gothic"/>
                <a:cs typeface="Yu Gothic"/>
              </a:rPr>
              <a:t>MID Server / Azure / ServiceNow</a:t>
            </a:r>
          </a:p>
        </p:txBody>
      </p:sp>
      <p:sp>
        <p:nvSpPr>
          <p:cNvPr id="3" name="">
            <a:extLst xmlns:a="http://schemas.openxmlformats.org/drawingml/2006/main">
              <a:ext uri="{FF2B5EF4-FFF2-40B4-BE49-F238E27FC236}">
                <a16:creationId xmlns:a16="http://schemas.microsoft.com/office/drawing/2014/main" id="{593C0D19-69F5-4A49-A41E-1D839EEB8E01}"/>
              </a:ext>
            </a:extLst>
          </p:cNvPr>
          <p:cNvSpPr>
            <a:spLocks xmlns:a="http://schemas.openxmlformats.org/drawingml/2006/main" noGrp="1"/>
          </p:cNvSpPr>
          <p:nvPr/>
        </p:nvSpPr>
        <p:spPr>
          <a:xfrm xmlns:a="http://schemas.openxmlformats.org/drawingml/2006/main">
            <a:off x="514350" y="5810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2325" b="1">
                <a:solidFill>
                  <a:srgbClr val="102A43"/>
                </a:solidFill>
                <a:latin typeface="Yu Gothic"/>
                <a:ea typeface="Yu Gothic"/>
                <a:cs typeface="Yu Gothic"/>
              </a:defRPr>
            </a:pPr>
            <a:r>
              <a:rPr sz="2325" b="1">
                <a:solidFill>
                  <a:srgbClr val="102A43"/>
                </a:solidFill>
                <a:latin typeface="Yu Gothic"/>
                <a:ea typeface="Yu Gothic"/>
                <a:cs typeface="Yu Gothic"/>
              </a:rPr>
              <a:t>通信経路とポート</a:t>
            </a:r>
          </a:p>
        </p:txBody>
      </p:sp>
      <p:sp>
        <p:nvSpPr>
          <p:cNvPr id="4" name="">
            <a:extLst xmlns:a="http://schemas.openxmlformats.org/drawingml/2006/main">
              <a:ext uri="{FF2B5EF4-FFF2-40B4-BE49-F238E27FC236}">
                <a16:creationId xmlns:a16="http://schemas.microsoft.com/office/drawing/2014/main" id="{88E8598A-2EC3-482F-84D9-59E3FE31F7DC}"/>
              </a:ext>
            </a:extLst>
          </p:cNvPr>
          <p:cNvSpPr>
            <a:spLocks xmlns:a="http://schemas.openxmlformats.org/drawingml/2006/main" noGrp="1"/>
          </p:cNvSpPr>
          <p:nvPr/>
        </p:nvSpPr>
        <p:spPr>
          <a:xfrm xmlns:a="http://schemas.openxmlformats.org/drawingml/2006/main">
            <a:off x="533400" y="1104900"/>
            <a:ext cx="885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0">
                <a:solidFill>
                  <a:srgbClr val="65717C"/>
                </a:solidFill>
                <a:latin typeface="Yu Gothic"/>
                <a:ea typeface="Yu Gothic"/>
                <a:cs typeface="Yu Gothic"/>
              </a:defRPr>
            </a:pPr>
            <a:r>
              <a:rPr sz="1125" b="0">
                <a:solidFill>
                  <a:srgbClr val="65717C"/>
                </a:solidFill>
                <a:latin typeface="Yu Gothic"/>
                <a:ea typeface="Yu Gothic"/>
                <a:cs typeface="Yu Gothic"/>
              </a:rPr>
              <a:t>PoC で先に確認する通信方向。MID Server と ServiceNow の接続はアウトバウンド主体</a:t>
            </a:r>
          </a:p>
        </p:txBody>
      </p:sp>
      <p:sp>
        <p:nvSpPr>
          <p:cNvPr id="5" name="">
            <a:extLst xmlns:a="http://schemas.openxmlformats.org/drawingml/2006/main">
              <a:ext uri="{FF2B5EF4-FFF2-40B4-BE49-F238E27FC236}">
                <a16:creationId xmlns:a16="http://schemas.microsoft.com/office/drawing/2014/main" id="{9561842E-BEE2-4094-8B7F-12D9C8569C25}"/>
              </a:ext>
            </a:extLst>
          </p:cNvPr>
          <p:cNvSpPr>
            <a:spLocks xmlns:a="http://schemas.openxmlformats.org/drawingml/2006/main" noGrp="1"/>
          </p:cNvSpPr>
          <p:nvPr/>
        </p:nvSpPr>
        <p:spPr>
          <a:xfrm xmlns:a="http://schemas.openxmlformats.org/drawingml/2006/main">
            <a:off x="10572750" y="285750"/>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050" b="0">
                <a:solidFill>
                  <a:srgbClr val="65717C"/>
                </a:solidFill>
                <a:latin typeface="Yu Gothic"/>
                <a:ea typeface="Yu Gothic"/>
                <a:cs typeface="Yu Gothic"/>
              </a:defRPr>
            </a:pPr>
            <a:r>
              <a:rPr sz="1050" b="0">
                <a:solidFill>
                  <a:srgbClr val="65717C"/>
                </a:solidFill>
                <a:latin typeface="Yu Gothic"/>
                <a:ea typeface="Yu Gothic"/>
                <a:cs typeface="Yu Gothic"/>
              </a:rPr>
              <a:t>ITOM / PoC</a:t>
            </a:r>
          </a:p>
        </p:txBody>
      </p:sp>
      <p:sp>
        <p:nvSpPr>
          <p:cNvPr id="6" name="">
            <a:extLst xmlns:a="http://schemas.openxmlformats.org/drawingml/2006/main">
              <a:ext uri="{FF2B5EF4-FFF2-40B4-BE49-F238E27FC236}">
                <a16:creationId xmlns:a16="http://schemas.microsoft.com/office/drawing/2014/main" id="{121DE143-CEE7-48F9-807B-AA7045DF6367}"/>
              </a:ext>
            </a:extLst>
          </p:cNvPr>
          <p:cNvSpPr>
            <a:spLocks xmlns:a="http://schemas.openxmlformats.org/drawingml/2006/main" noGrp="1"/>
          </p:cNvSpPr>
          <p:nvPr/>
        </p:nvSpPr>
        <p:spPr>
          <a:xfrm xmlns:a="http://schemas.openxmlformats.org/drawingml/2006/main">
            <a:off x="685800" y="1809750"/>
            <a:ext cx="2667000" cy="400050"/>
          </a:xfrm>
          <a:prstGeom xmlns:a="http://schemas.openxmlformats.org/drawingml/2006/main" prst="rect">
            <a:avLst/>
          </a:prstGeom>
          <a:solidFill xmlns:a="http://schemas.openxmlformats.org/drawingml/2006/main">
            <a:srgbClr val="0057B8"/>
          </a:solidFill>
          <a:ln xmlns:a="http://schemas.openxmlformats.org/drawingml/2006/main" w="9525">
            <a:solidFill>
              <a:srgbClr val="FFFFFF"/>
            </a:solidFill>
            <a:prstDash val="solid"/>
          </a:ln>
        </p:spPr>
      </p:sp>
      <p:sp>
        <p:nvSpPr>
          <p:cNvPr id="7" name="">
            <a:extLst xmlns:a="http://schemas.openxmlformats.org/drawingml/2006/main">
              <a:ext uri="{FF2B5EF4-FFF2-40B4-BE49-F238E27FC236}">
                <a16:creationId xmlns:a16="http://schemas.microsoft.com/office/drawing/2014/main" id="{B44B94DB-FD2D-4658-98B8-5F966BA1A934}"/>
              </a:ext>
            </a:extLst>
          </p:cNvPr>
          <p:cNvSpPr>
            <a:spLocks xmlns:a="http://schemas.openxmlformats.org/drawingml/2006/main" noGrp="1"/>
          </p:cNvSpPr>
          <p:nvPr/>
        </p:nvSpPr>
        <p:spPr>
          <a:xfrm xmlns:a="http://schemas.openxmlformats.org/drawingml/2006/main">
            <a:off x="762000" y="1857375"/>
            <a:ext cx="2514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975" b="1">
                <a:solidFill>
                  <a:srgbClr val="FFFFFF"/>
                </a:solidFill>
                <a:latin typeface="Yu Gothic"/>
                <a:ea typeface="Yu Gothic"/>
                <a:cs typeface="Yu Gothic"/>
              </a:defRPr>
            </a:pPr>
            <a:r>
              <a:rPr sz="975" b="1">
                <a:solidFill>
                  <a:srgbClr val="FFFFFF"/>
                </a:solidFill>
                <a:latin typeface="Yu Gothic"/>
                <a:ea typeface="Yu Gothic"/>
                <a:cs typeface="Yu Gothic"/>
              </a:rPr>
              <a:t>通信元 → 通信先</a:t>
            </a:r>
          </a:p>
        </p:txBody>
      </p:sp>
      <p:sp>
        <p:nvSpPr>
          <p:cNvPr id="8" name="">
            <a:extLst xmlns:a="http://schemas.openxmlformats.org/drawingml/2006/main">
              <a:ext uri="{FF2B5EF4-FFF2-40B4-BE49-F238E27FC236}">
                <a16:creationId xmlns:a16="http://schemas.microsoft.com/office/drawing/2014/main" id="{ECA026F8-C78B-4F72-92C1-F02D03367DAA}"/>
              </a:ext>
            </a:extLst>
          </p:cNvPr>
          <p:cNvSpPr>
            <a:spLocks xmlns:a="http://schemas.openxmlformats.org/drawingml/2006/main" noGrp="1"/>
          </p:cNvSpPr>
          <p:nvPr/>
        </p:nvSpPr>
        <p:spPr>
          <a:xfrm xmlns:a="http://schemas.openxmlformats.org/drawingml/2006/main">
            <a:off x="3352800" y="1809750"/>
            <a:ext cx="2381250" cy="400050"/>
          </a:xfrm>
          <a:prstGeom xmlns:a="http://schemas.openxmlformats.org/drawingml/2006/main" prst="rect">
            <a:avLst/>
          </a:prstGeom>
          <a:solidFill xmlns:a="http://schemas.openxmlformats.org/drawingml/2006/main">
            <a:srgbClr val="0057B8"/>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8D683F88-43A8-4A47-8E17-BBF403D08605}"/>
              </a:ext>
            </a:extLst>
          </p:cNvPr>
          <p:cNvSpPr>
            <a:spLocks xmlns:a="http://schemas.openxmlformats.org/drawingml/2006/main" noGrp="1"/>
          </p:cNvSpPr>
          <p:nvPr/>
        </p:nvSpPr>
        <p:spPr>
          <a:xfrm xmlns:a="http://schemas.openxmlformats.org/drawingml/2006/main">
            <a:off x="3429000" y="1857375"/>
            <a:ext cx="222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975" b="1">
                <a:solidFill>
                  <a:srgbClr val="FFFFFF"/>
                </a:solidFill>
                <a:latin typeface="Yu Gothic"/>
                <a:ea typeface="Yu Gothic"/>
                <a:cs typeface="Yu Gothic"/>
              </a:defRPr>
            </a:pPr>
            <a:r>
              <a:rPr sz="975" b="1">
                <a:solidFill>
                  <a:srgbClr val="FFFFFF"/>
                </a:solidFill>
                <a:latin typeface="Yu Gothic"/>
                <a:ea typeface="Yu Gothic"/>
                <a:cs typeface="Yu Gothic"/>
              </a:rPr>
              <a:t>用途</a:t>
            </a:r>
          </a:p>
        </p:txBody>
      </p:sp>
      <p:sp>
        <p:nvSpPr>
          <p:cNvPr id="10" name="">
            <a:extLst xmlns:a="http://schemas.openxmlformats.org/drawingml/2006/main">
              <a:ext uri="{FF2B5EF4-FFF2-40B4-BE49-F238E27FC236}">
                <a16:creationId xmlns:a16="http://schemas.microsoft.com/office/drawing/2014/main" id="{DF3E807A-4A4E-4361-914C-6602B0F2821D}"/>
              </a:ext>
            </a:extLst>
          </p:cNvPr>
          <p:cNvSpPr>
            <a:spLocks xmlns:a="http://schemas.openxmlformats.org/drawingml/2006/main" noGrp="1"/>
          </p:cNvSpPr>
          <p:nvPr/>
        </p:nvSpPr>
        <p:spPr>
          <a:xfrm xmlns:a="http://schemas.openxmlformats.org/drawingml/2006/main">
            <a:off x="5734050" y="1809750"/>
            <a:ext cx="1428750" cy="400050"/>
          </a:xfrm>
          <a:prstGeom xmlns:a="http://schemas.openxmlformats.org/drawingml/2006/main" prst="rect">
            <a:avLst/>
          </a:prstGeom>
          <a:solidFill xmlns:a="http://schemas.openxmlformats.org/drawingml/2006/main">
            <a:srgbClr val="0057B8"/>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E81744D5-336A-4E45-B28F-4EDDF6542711}"/>
              </a:ext>
            </a:extLst>
          </p:cNvPr>
          <p:cNvSpPr>
            <a:spLocks xmlns:a="http://schemas.openxmlformats.org/drawingml/2006/main" noGrp="1"/>
          </p:cNvSpPr>
          <p:nvPr/>
        </p:nvSpPr>
        <p:spPr>
          <a:xfrm xmlns:a="http://schemas.openxmlformats.org/drawingml/2006/main">
            <a:off x="5810250" y="1857375"/>
            <a:ext cx="127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975" b="1">
                <a:solidFill>
                  <a:srgbClr val="FFFFFF"/>
                </a:solidFill>
                <a:latin typeface="Yu Gothic"/>
                <a:ea typeface="Yu Gothic"/>
                <a:cs typeface="Yu Gothic"/>
              </a:defRPr>
            </a:pPr>
            <a:r>
              <a:rPr sz="975" b="1">
                <a:solidFill>
                  <a:srgbClr val="FFFFFF"/>
                </a:solidFill>
                <a:latin typeface="Yu Gothic"/>
                <a:ea typeface="Yu Gothic"/>
                <a:cs typeface="Yu Gothic"/>
              </a:rPr>
              <a:t>Protocol / Port</a:t>
            </a:r>
          </a:p>
        </p:txBody>
      </p:sp>
      <p:sp>
        <p:nvSpPr>
          <p:cNvPr id="12" name="">
            <a:extLst xmlns:a="http://schemas.openxmlformats.org/drawingml/2006/main">
              <a:ext uri="{FF2B5EF4-FFF2-40B4-BE49-F238E27FC236}">
                <a16:creationId xmlns:a16="http://schemas.microsoft.com/office/drawing/2014/main" id="{6859520E-B72F-424B-8C15-8FE83A275DA5}"/>
              </a:ext>
            </a:extLst>
          </p:cNvPr>
          <p:cNvSpPr>
            <a:spLocks xmlns:a="http://schemas.openxmlformats.org/drawingml/2006/main" noGrp="1"/>
          </p:cNvSpPr>
          <p:nvPr/>
        </p:nvSpPr>
        <p:spPr>
          <a:xfrm xmlns:a="http://schemas.openxmlformats.org/drawingml/2006/main">
            <a:off x="7162800" y="1809750"/>
            <a:ext cx="4191000" cy="400050"/>
          </a:xfrm>
          <a:prstGeom xmlns:a="http://schemas.openxmlformats.org/drawingml/2006/main" prst="rect">
            <a:avLst/>
          </a:prstGeom>
          <a:solidFill xmlns:a="http://schemas.openxmlformats.org/drawingml/2006/main">
            <a:srgbClr val="0057B8"/>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D3D175BE-AF6F-4FC3-8CB4-A671C5B7E9EC}"/>
              </a:ext>
            </a:extLst>
          </p:cNvPr>
          <p:cNvSpPr>
            <a:spLocks xmlns:a="http://schemas.openxmlformats.org/drawingml/2006/main" noGrp="1"/>
          </p:cNvSpPr>
          <p:nvPr/>
        </p:nvSpPr>
        <p:spPr>
          <a:xfrm xmlns:a="http://schemas.openxmlformats.org/drawingml/2006/main">
            <a:off x="7239000" y="1857375"/>
            <a:ext cx="403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975" b="1">
                <a:solidFill>
                  <a:srgbClr val="FFFFFF"/>
                </a:solidFill>
                <a:latin typeface="Yu Gothic"/>
                <a:ea typeface="Yu Gothic"/>
                <a:cs typeface="Yu Gothic"/>
              </a:defRPr>
            </a:pPr>
            <a:r>
              <a:rPr sz="975" b="1">
                <a:solidFill>
                  <a:srgbClr val="FFFFFF"/>
                </a:solidFill>
                <a:latin typeface="Yu Gothic"/>
                <a:ea typeface="Yu Gothic"/>
                <a:cs typeface="Yu Gothic"/>
              </a:rPr>
              <a:t>確認ポイント</a:t>
            </a:r>
          </a:p>
        </p:txBody>
      </p:sp>
      <p:sp>
        <p:nvSpPr>
          <p:cNvPr id="14" name="">
            <a:extLst xmlns:a="http://schemas.openxmlformats.org/drawingml/2006/main">
              <a:ext uri="{FF2B5EF4-FFF2-40B4-BE49-F238E27FC236}">
                <a16:creationId xmlns:a16="http://schemas.microsoft.com/office/drawing/2014/main" id="{348D22B4-FAA1-4819-B7AE-C264B9AB087A}"/>
              </a:ext>
            </a:extLst>
          </p:cNvPr>
          <p:cNvSpPr>
            <a:spLocks xmlns:a="http://schemas.openxmlformats.org/drawingml/2006/main" noGrp="1"/>
          </p:cNvSpPr>
          <p:nvPr/>
        </p:nvSpPr>
        <p:spPr>
          <a:xfrm xmlns:a="http://schemas.openxmlformats.org/drawingml/2006/main">
            <a:off x="685800" y="2209800"/>
            <a:ext cx="2667000" cy="742950"/>
          </a:xfrm>
          <a:prstGeom xmlns:a="http://schemas.openxmlformats.org/drawingml/2006/main" prst="rect">
            <a:avLst/>
          </a:prstGeom>
          <a:solidFill xmlns:a="http://schemas.openxmlformats.org/drawingml/2006/main">
            <a:srgbClr val="EAF3FA"/>
          </a:solidFill>
          <a:ln xmlns:a="http://schemas.openxmlformats.org/drawingml/2006/main" w="9525">
            <a:solidFill>
              <a:srgbClr val="C5CCD2"/>
            </a:solidFill>
            <a:prstDash val="solid"/>
          </a:ln>
        </p:spPr>
      </p:sp>
      <p:sp>
        <p:nvSpPr>
          <p:cNvPr id="15" name="">
            <a:extLst xmlns:a="http://schemas.openxmlformats.org/drawingml/2006/main">
              <a:ext uri="{FF2B5EF4-FFF2-40B4-BE49-F238E27FC236}">
                <a16:creationId xmlns:a16="http://schemas.microsoft.com/office/drawing/2014/main" id="{9C4433C8-10A1-486D-90CB-6C8CCFC3267C}"/>
              </a:ext>
            </a:extLst>
          </p:cNvPr>
          <p:cNvSpPr>
            <a:spLocks xmlns:a="http://schemas.openxmlformats.org/drawingml/2006/main" noGrp="1"/>
          </p:cNvSpPr>
          <p:nvPr/>
        </p:nvSpPr>
        <p:spPr>
          <a:xfrm xmlns:a="http://schemas.openxmlformats.org/drawingml/2006/main">
            <a:off x="762000" y="2276475"/>
            <a:ext cx="2514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1">
                <a:solidFill>
                  <a:srgbClr val="1F2933"/>
                </a:solidFill>
                <a:latin typeface="Yu Gothic"/>
                <a:ea typeface="Yu Gothic"/>
                <a:cs typeface="Yu Gothic"/>
              </a:defRPr>
            </a:pPr>
            <a:r>
              <a:rPr sz="900" b="1">
                <a:solidFill>
                  <a:srgbClr val="1F2933"/>
                </a:solidFill>
                <a:latin typeface="Yu Gothic"/>
                <a:ea typeface="Yu Gothic"/>
                <a:cs typeface="Yu Gothic"/>
              </a:rPr>
              <a:t>MID Server → ServiceNow</a:t>
            </a:r>
          </a:p>
        </p:txBody>
      </p:sp>
      <p:sp>
        <p:nvSpPr>
          <p:cNvPr id="16" name="">
            <a:extLst xmlns:a="http://schemas.openxmlformats.org/drawingml/2006/main">
              <a:ext uri="{FF2B5EF4-FFF2-40B4-BE49-F238E27FC236}">
                <a16:creationId xmlns:a16="http://schemas.microsoft.com/office/drawing/2014/main" id="{ACA02058-A310-4E58-84E7-FE7A2BA2B1AC}"/>
              </a:ext>
            </a:extLst>
          </p:cNvPr>
          <p:cNvSpPr>
            <a:spLocks xmlns:a="http://schemas.openxmlformats.org/drawingml/2006/main" noGrp="1"/>
          </p:cNvSpPr>
          <p:nvPr/>
        </p:nvSpPr>
        <p:spPr>
          <a:xfrm xmlns:a="http://schemas.openxmlformats.org/drawingml/2006/main">
            <a:off x="3352800" y="2209800"/>
            <a:ext cx="2381250" cy="742950"/>
          </a:xfrm>
          <a:prstGeom xmlns:a="http://schemas.openxmlformats.org/drawingml/2006/main" prst="rect">
            <a:avLst/>
          </a:prstGeom>
          <a:solidFill xmlns:a="http://schemas.openxmlformats.org/drawingml/2006/main">
            <a:srgbClr val="EAF3FA"/>
          </a:solidFill>
          <a:ln xmlns:a="http://schemas.openxmlformats.org/drawingml/2006/main" w="9525">
            <a:solidFill>
              <a:srgbClr val="C5CCD2"/>
            </a:solidFill>
            <a:prstDash val="solid"/>
          </a:ln>
        </p:spPr>
      </p:sp>
      <p:sp>
        <p:nvSpPr>
          <p:cNvPr id="17" name="">
            <a:extLst xmlns:a="http://schemas.openxmlformats.org/drawingml/2006/main">
              <a:ext uri="{FF2B5EF4-FFF2-40B4-BE49-F238E27FC236}">
                <a16:creationId xmlns:a16="http://schemas.microsoft.com/office/drawing/2014/main" id="{6070B32D-80D0-4A8F-AFAB-D5E9C632B4D8}"/>
              </a:ext>
            </a:extLst>
          </p:cNvPr>
          <p:cNvSpPr>
            <a:spLocks xmlns:a="http://schemas.openxmlformats.org/drawingml/2006/main" noGrp="1"/>
          </p:cNvSpPr>
          <p:nvPr/>
        </p:nvSpPr>
        <p:spPr>
          <a:xfrm xmlns:a="http://schemas.openxmlformats.org/drawingml/2006/main">
            <a:off x="3429000" y="2276475"/>
            <a:ext cx="2228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1F2933"/>
                </a:solidFill>
                <a:latin typeface="Yu Gothic"/>
                <a:ea typeface="Yu Gothic"/>
                <a:cs typeface="Yu Gothic"/>
              </a:defRPr>
            </a:pPr>
            <a:r>
              <a:rPr sz="825" b="0">
                <a:solidFill>
                  <a:srgbClr val="1F2933"/>
                </a:solidFill>
                <a:latin typeface="Yu Gothic"/>
                <a:ea typeface="Yu Gothic"/>
                <a:cs typeface="Yu Gothic"/>
              </a:rPr>
              <a:t>MID registration / ECC communication</a:t>
            </a:r>
          </a:p>
        </p:txBody>
      </p:sp>
      <p:sp>
        <p:nvSpPr>
          <p:cNvPr id="18" name="">
            <a:extLst xmlns:a="http://schemas.openxmlformats.org/drawingml/2006/main">
              <a:ext uri="{FF2B5EF4-FFF2-40B4-BE49-F238E27FC236}">
                <a16:creationId xmlns:a16="http://schemas.microsoft.com/office/drawing/2014/main" id="{BF2E0D12-B52F-4A29-8923-CE839FDABAA0}"/>
              </a:ext>
            </a:extLst>
          </p:cNvPr>
          <p:cNvSpPr>
            <a:spLocks xmlns:a="http://schemas.openxmlformats.org/drawingml/2006/main" noGrp="1"/>
          </p:cNvSpPr>
          <p:nvPr/>
        </p:nvSpPr>
        <p:spPr>
          <a:xfrm xmlns:a="http://schemas.openxmlformats.org/drawingml/2006/main">
            <a:off x="5734050" y="2209800"/>
            <a:ext cx="1428750" cy="742950"/>
          </a:xfrm>
          <a:prstGeom xmlns:a="http://schemas.openxmlformats.org/drawingml/2006/main" prst="rect">
            <a:avLst/>
          </a:prstGeom>
          <a:solidFill xmlns:a="http://schemas.openxmlformats.org/drawingml/2006/main">
            <a:srgbClr val="EAF3FA"/>
          </a:solidFill>
          <a:ln xmlns:a="http://schemas.openxmlformats.org/drawingml/2006/main" w="9525">
            <a:solidFill>
              <a:srgbClr val="C5CCD2"/>
            </a:solidFill>
            <a:prstDash val="solid"/>
          </a:ln>
        </p:spPr>
      </p:sp>
      <p:sp>
        <p:nvSpPr>
          <p:cNvPr id="19" name="">
            <a:extLst xmlns:a="http://schemas.openxmlformats.org/drawingml/2006/main">
              <a:ext uri="{FF2B5EF4-FFF2-40B4-BE49-F238E27FC236}">
                <a16:creationId xmlns:a16="http://schemas.microsoft.com/office/drawing/2014/main" id="{DBA416DD-575D-46FD-B799-3C2F9E722471}"/>
              </a:ext>
            </a:extLst>
          </p:cNvPr>
          <p:cNvSpPr>
            <a:spLocks xmlns:a="http://schemas.openxmlformats.org/drawingml/2006/main" noGrp="1"/>
          </p:cNvSpPr>
          <p:nvPr/>
        </p:nvSpPr>
        <p:spPr>
          <a:xfrm xmlns:a="http://schemas.openxmlformats.org/drawingml/2006/main">
            <a:off x="5810250" y="2276475"/>
            <a:ext cx="1276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825" b="0">
                <a:solidFill>
                  <a:srgbClr val="102A43"/>
                </a:solidFill>
                <a:latin typeface="Yu Gothic"/>
                <a:ea typeface="Yu Gothic"/>
                <a:cs typeface="Yu Gothic"/>
              </a:defRPr>
            </a:pPr>
            <a:r>
              <a:rPr sz="825" b="0">
                <a:solidFill>
                  <a:srgbClr val="102A43"/>
                </a:solidFill>
                <a:latin typeface="Yu Gothic"/>
                <a:ea typeface="Yu Gothic"/>
                <a:cs typeface="Yu Gothic"/>
              </a:rPr>
              <a:t>TCP 443</a:t>
            </a:r>
          </a:p>
          <a:p xmlns:a="http://schemas.openxmlformats.org/drawingml/2006/main">
            <a:pPr algn="ctr">
              <a:defRPr sz="825" b="0">
                <a:solidFill>
                  <a:srgbClr val="102A43"/>
                </a:solidFill>
                <a:latin typeface="Yu Gothic"/>
                <a:ea typeface="Yu Gothic"/>
                <a:cs typeface="Yu Gothic"/>
              </a:defRPr>
            </a:pPr>
            <a:r>
              <a:rPr sz="825" b="0">
                <a:solidFill>
                  <a:srgbClr val="102A43"/>
                </a:solidFill>
                <a:latin typeface="Yu Gothic"/>
                <a:ea typeface="Yu Gothic"/>
                <a:cs typeface="Yu Gothic"/>
              </a:rPr>
              <a:t>Outbound</a:t>
            </a:r>
          </a:p>
        </p:txBody>
      </p:sp>
      <p:sp>
        <p:nvSpPr>
          <p:cNvPr id="20" name="">
            <a:extLst xmlns:a="http://schemas.openxmlformats.org/drawingml/2006/main">
              <a:ext uri="{FF2B5EF4-FFF2-40B4-BE49-F238E27FC236}">
                <a16:creationId xmlns:a16="http://schemas.microsoft.com/office/drawing/2014/main" id="{1D584CD3-C05F-4776-B083-31F7FDB2290E}"/>
              </a:ext>
            </a:extLst>
          </p:cNvPr>
          <p:cNvSpPr>
            <a:spLocks xmlns:a="http://schemas.openxmlformats.org/drawingml/2006/main" noGrp="1"/>
          </p:cNvSpPr>
          <p:nvPr/>
        </p:nvSpPr>
        <p:spPr>
          <a:xfrm xmlns:a="http://schemas.openxmlformats.org/drawingml/2006/main">
            <a:off x="7162800" y="2209800"/>
            <a:ext cx="4191000" cy="742950"/>
          </a:xfrm>
          <a:prstGeom xmlns:a="http://schemas.openxmlformats.org/drawingml/2006/main" prst="rect">
            <a:avLst/>
          </a:prstGeom>
          <a:solidFill xmlns:a="http://schemas.openxmlformats.org/drawingml/2006/main">
            <a:srgbClr val="EAF3FA"/>
          </a:solidFill>
          <a:ln xmlns:a="http://schemas.openxmlformats.org/drawingml/2006/main" w="9525">
            <a:solidFill>
              <a:srgbClr val="C5CCD2"/>
            </a:solidFill>
            <a:prstDash val="solid"/>
          </a:ln>
        </p:spPr>
      </p:sp>
      <p:sp>
        <p:nvSpPr>
          <p:cNvPr id="21" name="">
            <a:extLst xmlns:a="http://schemas.openxmlformats.org/drawingml/2006/main">
              <a:ext uri="{FF2B5EF4-FFF2-40B4-BE49-F238E27FC236}">
                <a16:creationId xmlns:a16="http://schemas.microsoft.com/office/drawing/2014/main" id="{8D7CEE24-C726-4489-8FED-6209DFF2C157}"/>
              </a:ext>
            </a:extLst>
          </p:cNvPr>
          <p:cNvSpPr>
            <a:spLocks xmlns:a="http://schemas.openxmlformats.org/drawingml/2006/main" noGrp="1"/>
          </p:cNvSpPr>
          <p:nvPr/>
        </p:nvSpPr>
        <p:spPr>
          <a:xfrm xmlns:a="http://schemas.openxmlformats.org/drawingml/2006/main">
            <a:off x="7239000" y="2276475"/>
            <a:ext cx="4038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1F2933"/>
                </a:solidFill>
                <a:latin typeface="Yu Gothic"/>
                <a:ea typeface="Yu Gothic"/>
                <a:cs typeface="Yu Gothic"/>
              </a:defRPr>
            </a:pPr>
            <a:r>
              <a:rPr sz="825" b="0">
                <a:solidFill>
                  <a:srgbClr val="1F2933"/>
                </a:solidFill>
                <a:latin typeface="Yu Gothic"/>
                <a:ea typeface="Yu Gothic"/>
                <a:cs typeface="Yu Gothic"/>
              </a:rPr>
              <a:t>ServiceNow URL、TLS、プロキシ、NSG、固定出站 IP を確認</a:t>
            </a:r>
          </a:p>
        </p:txBody>
      </p:sp>
      <p:sp>
        <p:nvSpPr>
          <p:cNvPr id="22" name="">
            <a:extLst xmlns:a="http://schemas.openxmlformats.org/drawingml/2006/main">
              <a:ext uri="{FF2B5EF4-FFF2-40B4-BE49-F238E27FC236}">
                <a16:creationId xmlns:a16="http://schemas.microsoft.com/office/drawing/2014/main" id="{D0ADD4BA-678A-45E6-9CE1-96DC40F7DBF7}"/>
              </a:ext>
            </a:extLst>
          </p:cNvPr>
          <p:cNvSpPr>
            <a:spLocks xmlns:a="http://schemas.openxmlformats.org/drawingml/2006/main" noGrp="1"/>
          </p:cNvSpPr>
          <p:nvPr/>
        </p:nvSpPr>
        <p:spPr>
          <a:xfrm xmlns:a="http://schemas.openxmlformats.org/drawingml/2006/main">
            <a:off x="685800" y="2952750"/>
            <a:ext cx="26670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23" name="">
            <a:extLst xmlns:a="http://schemas.openxmlformats.org/drawingml/2006/main">
              <a:ext uri="{FF2B5EF4-FFF2-40B4-BE49-F238E27FC236}">
                <a16:creationId xmlns:a16="http://schemas.microsoft.com/office/drawing/2014/main" id="{94689BAB-1E1F-428A-9A5A-74562C592229}"/>
              </a:ext>
            </a:extLst>
          </p:cNvPr>
          <p:cNvSpPr>
            <a:spLocks xmlns:a="http://schemas.openxmlformats.org/drawingml/2006/main" noGrp="1"/>
          </p:cNvSpPr>
          <p:nvPr/>
        </p:nvSpPr>
        <p:spPr>
          <a:xfrm xmlns:a="http://schemas.openxmlformats.org/drawingml/2006/main">
            <a:off x="762000" y="3019425"/>
            <a:ext cx="2514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1">
                <a:solidFill>
                  <a:srgbClr val="1F2933"/>
                </a:solidFill>
                <a:latin typeface="Yu Gothic"/>
                <a:ea typeface="Yu Gothic"/>
                <a:cs typeface="Yu Gothic"/>
              </a:defRPr>
            </a:pPr>
            <a:r>
              <a:rPr sz="900" b="1">
                <a:solidFill>
                  <a:srgbClr val="1F2933"/>
                </a:solidFill>
                <a:latin typeface="Yu Gothic"/>
                <a:ea typeface="Yu Gothic"/>
                <a:cs typeface="Yu Gothic"/>
              </a:rPr>
              <a:t>管理者 → Azure Bastion</a:t>
            </a:r>
          </a:p>
        </p:txBody>
      </p:sp>
      <p:sp>
        <p:nvSpPr>
          <p:cNvPr id="24" name="">
            <a:extLst xmlns:a="http://schemas.openxmlformats.org/drawingml/2006/main">
              <a:ext uri="{FF2B5EF4-FFF2-40B4-BE49-F238E27FC236}">
                <a16:creationId xmlns:a16="http://schemas.microsoft.com/office/drawing/2014/main" id="{7CB8F1E8-C52C-4625-9183-319FE3498B83}"/>
              </a:ext>
            </a:extLst>
          </p:cNvPr>
          <p:cNvSpPr>
            <a:spLocks xmlns:a="http://schemas.openxmlformats.org/drawingml/2006/main" noGrp="1"/>
          </p:cNvSpPr>
          <p:nvPr/>
        </p:nvSpPr>
        <p:spPr>
          <a:xfrm xmlns:a="http://schemas.openxmlformats.org/drawingml/2006/main">
            <a:off x="3352800" y="2952750"/>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25" name="">
            <a:extLst xmlns:a="http://schemas.openxmlformats.org/drawingml/2006/main">
              <a:ext uri="{FF2B5EF4-FFF2-40B4-BE49-F238E27FC236}">
                <a16:creationId xmlns:a16="http://schemas.microsoft.com/office/drawing/2014/main" id="{2AACE01D-1FF7-4EFF-8F98-9A206A2EC5A3}"/>
              </a:ext>
            </a:extLst>
          </p:cNvPr>
          <p:cNvSpPr>
            <a:spLocks xmlns:a="http://schemas.openxmlformats.org/drawingml/2006/main" noGrp="1"/>
          </p:cNvSpPr>
          <p:nvPr/>
        </p:nvSpPr>
        <p:spPr>
          <a:xfrm xmlns:a="http://schemas.openxmlformats.org/drawingml/2006/main">
            <a:off x="3429000" y="3019425"/>
            <a:ext cx="2228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1F2933"/>
                </a:solidFill>
                <a:latin typeface="Yu Gothic"/>
                <a:ea typeface="Yu Gothic"/>
                <a:cs typeface="Yu Gothic"/>
              </a:defRPr>
            </a:pPr>
            <a:r>
              <a:rPr sz="825" b="0">
                <a:solidFill>
                  <a:srgbClr val="1F2933"/>
                </a:solidFill>
                <a:latin typeface="Yu Gothic"/>
                <a:ea typeface="Yu Gothic"/>
                <a:cs typeface="Yu Gothic"/>
              </a:rPr>
              <a:t>RDP / SSH administration</a:t>
            </a:r>
          </a:p>
        </p:txBody>
      </p:sp>
      <p:sp>
        <p:nvSpPr>
          <p:cNvPr id="26" name="">
            <a:extLst xmlns:a="http://schemas.openxmlformats.org/drawingml/2006/main">
              <a:ext uri="{FF2B5EF4-FFF2-40B4-BE49-F238E27FC236}">
                <a16:creationId xmlns:a16="http://schemas.microsoft.com/office/drawing/2014/main" id="{6C35067A-66ED-47EB-B4A4-BEA9FF435874}"/>
              </a:ext>
            </a:extLst>
          </p:cNvPr>
          <p:cNvSpPr>
            <a:spLocks xmlns:a="http://schemas.openxmlformats.org/drawingml/2006/main" noGrp="1"/>
          </p:cNvSpPr>
          <p:nvPr/>
        </p:nvSpPr>
        <p:spPr>
          <a:xfrm xmlns:a="http://schemas.openxmlformats.org/drawingml/2006/main">
            <a:off x="5734050" y="2952750"/>
            <a:ext cx="1428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27" name="">
            <a:extLst xmlns:a="http://schemas.openxmlformats.org/drawingml/2006/main">
              <a:ext uri="{FF2B5EF4-FFF2-40B4-BE49-F238E27FC236}">
                <a16:creationId xmlns:a16="http://schemas.microsoft.com/office/drawing/2014/main" id="{01264FB5-BDD3-4E46-902A-E1D9090D0962}"/>
              </a:ext>
            </a:extLst>
          </p:cNvPr>
          <p:cNvSpPr>
            <a:spLocks xmlns:a="http://schemas.openxmlformats.org/drawingml/2006/main" noGrp="1"/>
          </p:cNvSpPr>
          <p:nvPr/>
        </p:nvSpPr>
        <p:spPr>
          <a:xfrm xmlns:a="http://schemas.openxmlformats.org/drawingml/2006/main">
            <a:off x="5810250" y="3019425"/>
            <a:ext cx="1276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825" b="0">
                <a:solidFill>
                  <a:srgbClr val="102A43"/>
                </a:solidFill>
                <a:latin typeface="Yu Gothic"/>
                <a:ea typeface="Yu Gothic"/>
                <a:cs typeface="Yu Gothic"/>
              </a:defRPr>
            </a:pPr>
            <a:r>
              <a:rPr sz="825" b="0">
                <a:solidFill>
                  <a:srgbClr val="102A43"/>
                </a:solidFill>
                <a:latin typeface="Yu Gothic"/>
                <a:ea typeface="Yu Gothic"/>
                <a:cs typeface="Yu Gothic"/>
              </a:rPr>
              <a:t>HTTPS 443</a:t>
            </a:r>
          </a:p>
          <a:p xmlns:a="http://schemas.openxmlformats.org/drawingml/2006/main">
            <a:pPr algn="ctr">
              <a:defRPr sz="825" b="0">
                <a:solidFill>
                  <a:srgbClr val="102A43"/>
                </a:solidFill>
                <a:latin typeface="Yu Gothic"/>
                <a:ea typeface="Yu Gothic"/>
                <a:cs typeface="Yu Gothic"/>
              </a:defRPr>
            </a:pPr>
            <a:r>
              <a:rPr sz="825" b="0">
                <a:solidFill>
                  <a:srgbClr val="102A43"/>
                </a:solidFill>
                <a:latin typeface="Yu Gothic"/>
                <a:ea typeface="Yu Gothic"/>
                <a:cs typeface="Yu Gothic"/>
              </a:rPr>
              <a:t>Browser</a:t>
            </a:r>
          </a:p>
        </p:txBody>
      </p:sp>
      <p:sp>
        <p:nvSpPr>
          <p:cNvPr id="28" name="">
            <a:extLst xmlns:a="http://schemas.openxmlformats.org/drawingml/2006/main">
              <a:ext uri="{FF2B5EF4-FFF2-40B4-BE49-F238E27FC236}">
                <a16:creationId xmlns:a16="http://schemas.microsoft.com/office/drawing/2014/main" id="{1D094520-BA69-42E3-A6D4-46EF27E964FF}"/>
              </a:ext>
            </a:extLst>
          </p:cNvPr>
          <p:cNvSpPr>
            <a:spLocks xmlns:a="http://schemas.openxmlformats.org/drawingml/2006/main" noGrp="1"/>
          </p:cNvSpPr>
          <p:nvPr/>
        </p:nvSpPr>
        <p:spPr>
          <a:xfrm xmlns:a="http://schemas.openxmlformats.org/drawingml/2006/main">
            <a:off x="7162800" y="2952750"/>
            <a:ext cx="41910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29" name="">
            <a:extLst xmlns:a="http://schemas.openxmlformats.org/drawingml/2006/main">
              <a:ext uri="{FF2B5EF4-FFF2-40B4-BE49-F238E27FC236}">
                <a16:creationId xmlns:a16="http://schemas.microsoft.com/office/drawing/2014/main" id="{5FFE023F-5B85-46F6-B648-1085A3FF1B21}"/>
              </a:ext>
            </a:extLst>
          </p:cNvPr>
          <p:cNvSpPr>
            <a:spLocks xmlns:a="http://schemas.openxmlformats.org/drawingml/2006/main" noGrp="1"/>
          </p:cNvSpPr>
          <p:nvPr/>
        </p:nvSpPr>
        <p:spPr>
          <a:xfrm xmlns:a="http://schemas.openxmlformats.org/drawingml/2006/main">
            <a:off x="7239000" y="3019425"/>
            <a:ext cx="4038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1F2933"/>
                </a:solidFill>
                <a:latin typeface="Yu Gothic"/>
                <a:ea typeface="Yu Gothic"/>
                <a:cs typeface="Yu Gothic"/>
              </a:defRPr>
            </a:pPr>
            <a:r>
              <a:rPr sz="825" b="0">
                <a:solidFill>
                  <a:srgbClr val="1F2933"/>
                </a:solidFill>
                <a:latin typeface="Yu Gothic"/>
                <a:ea typeface="Yu Gothic"/>
                <a:cs typeface="Yu Gothic"/>
              </a:rPr>
              <a:t>Bastion は管理用。MID Server の常時接続用ポートではない</a:t>
            </a:r>
          </a:p>
        </p:txBody>
      </p:sp>
      <p:sp>
        <p:nvSpPr>
          <p:cNvPr id="30" name="">
            <a:extLst xmlns:a="http://schemas.openxmlformats.org/drawingml/2006/main">
              <a:ext uri="{FF2B5EF4-FFF2-40B4-BE49-F238E27FC236}">
                <a16:creationId xmlns:a16="http://schemas.microsoft.com/office/drawing/2014/main" id="{FBCC9BB1-8AEA-4BCC-BA00-AF232C7D5A9E}"/>
              </a:ext>
            </a:extLst>
          </p:cNvPr>
          <p:cNvSpPr>
            <a:spLocks xmlns:a="http://schemas.openxmlformats.org/drawingml/2006/main" noGrp="1"/>
          </p:cNvSpPr>
          <p:nvPr/>
        </p:nvSpPr>
        <p:spPr>
          <a:xfrm xmlns:a="http://schemas.openxmlformats.org/drawingml/2006/main">
            <a:off x="685800" y="3695700"/>
            <a:ext cx="26670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31" name="">
            <a:extLst xmlns:a="http://schemas.openxmlformats.org/drawingml/2006/main">
              <a:ext uri="{FF2B5EF4-FFF2-40B4-BE49-F238E27FC236}">
                <a16:creationId xmlns:a16="http://schemas.microsoft.com/office/drawing/2014/main" id="{B5B0F4CD-8148-4999-9704-081673E1FC2C}"/>
              </a:ext>
            </a:extLst>
          </p:cNvPr>
          <p:cNvSpPr>
            <a:spLocks xmlns:a="http://schemas.openxmlformats.org/drawingml/2006/main" noGrp="1"/>
          </p:cNvSpPr>
          <p:nvPr/>
        </p:nvSpPr>
        <p:spPr>
          <a:xfrm xmlns:a="http://schemas.openxmlformats.org/drawingml/2006/main">
            <a:off x="762000" y="3762375"/>
            <a:ext cx="2514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1">
                <a:solidFill>
                  <a:srgbClr val="1F2933"/>
                </a:solidFill>
                <a:latin typeface="Yu Gothic"/>
                <a:ea typeface="Yu Gothic"/>
                <a:cs typeface="Yu Gothic"/>
              </a:defRPr>
            </a:pPr>
            <a:r>
              <a:rPr sz="900" b="1">
                <a:solidFill>
                  <a:srgbClr val="1F2933"/>
                </a:solidFill>
                <a:latin typeface="Yu Gothic"/>
                <a:ea typeface="Yu Gothic"/>
                <a:cs typeface="Yu Gothic"/>
              </a:rPr>
              <a:t>Bastion → MID Server</a:t>
            </a:r>
          </a:p>
        </p:txBody>
      </p:sp>
      <p:sp>
        <p:nvSpPr>
          <p:cNvPr id="32" name="">
            <a:extLst xmlns:a="http://schemas.openxmlformats.org/drawingml/2006/main">
              <a:ext uri="{FF2B5EF4-FFF2-40B4-BE49-F238E27FC236}">
                <a16:creationId xmlns:a16="http://schemas.microsoft.com/office/drawing/2014/main" id="{0F0DA0C1-A016-4661-87EA-5CFA1164D15A}"/>
              </a:ext>
            </a:extLst>
          </p:cNvPr>
          <p:cNvSpPr>
            <a:spLocks xmlns:a="http://schemas.openxmlformats.org/drawingml/2006/main" noGrp="1"/>
          </p:cNvSpPr>
          <p:nvPr/>
        </p:nvSpPr>
        <p:spPr>
          <a:xfrm xmlns:a="http://schemas.openxmlformats.org/drawingml/2006/main">
            <a:off x="3352800" y="3695700"/>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33" name="">
            <a:extLst xmlns:a="http://schemas.openxmlformats.org/drawingml/2006/main">
              <a:ext uri="{FF2B5EF4-FFF2-40B4-BE49-F238E27FC236}">
                <a16:creationId xmlns:a16="http://schemas.microsoft.com/office/drawing/2014/main" id="{3E023D56-D441-4002-87A9-98FA0EE5BFC4}"/>
              </a:ext>
            </a:extLst>
          </p:cNvPr>
          <p:cNvSpPr>
            <a:spLocks xmlns:a="http://schemas.openxmlformats.org/drawingml/2006/main" noGrp="1"/>
          </p:cNvSpPr>
          <p:nvPr/>
        </p:nvSpPr>
        <p:spPr>
          <a:xfrm xmlns:a="http://schemas.openxmlformats.org/drawingml/2006/main">
            <a:off x="3429000" y="3762375"/>
            <a:ext cx="2228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1F2933"/>
                </a:solidFill>
                <a:latin typeface="Yu Gothic"/>
                <a:ea typeface="Yu Gothic"/>
                <a:cs typeface="Yu Gothic"/>
              </a:defRPr>
            </a:pPr>
            <a:r>
              <a:rPr sz="825" b="0">
                <a:solidFill>
                  <a:srgbClr val="1F2933"/>
                </a:solidFill>
                <a:latin typeface="Yu Gothic"/>
                <a:ea typeface="Yu Gothic"/>
                <a:cs typeface="Yu Gothic"/>
              </a:rPr>
              <a:t>Windows / Linux login</a:t>
            </a:r>
          </a:p>
        </p:txBody>
      </p:sp>
      <p:sp>
        <p:nvSpPr>
          <p:cNvPr id="34" name="">
            <a:extLst xmlns:a="http://schemas.openxmlformats.org/drawingml/2006/main">
              <a:ext uri="{FF2B5EF4-FFF2-40B4-BE49-F238E27FC236}">
                <a16:creationId xmlns:a16="http://schemas.microsoft.com/office/drawing/2014/main" id="{7FCE66B4-4D4C-4245-8148-EB4977740384}"/>
              </a:ext>
            </a:extLst>
          </p:cNvPr>
          <p:cNvSpPr>
            <a:spLocks xmlns:a="http://schemas.openxmlformats.org/drawingml/2006/main" noGrp="1"/>
          </p:cNvSpPr>
          <p:nvPr/>
        </p:nvSpPr>
        <p:spPr>
          <a:xfrm xmlns:a="http://schemas.openxmlformats.org/drawingml/2006/main">
            <a:off x="5734050" y="3695700"/>
            <a:ext cx="1428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35" name="">
            <a:extLst xmlns:a="http://schemas.openxmlformats.org/drawingml/2006/main">
              <a:ext uri="{FF2B5EF4-FFF2-40B4-BE49-F238E27FC236}">
                <a16:creationId xmlns:a16="http://schemas.microsoft.com/office/drawing/2014/main" id="{3F12CCE1-B5E1-46C0-AA9A-1C0FC7A0A20D}"/>
              </a:ext>
            </a:extLst>
          </p:cNvPr>
          <p:cNvSpPr>
            <a:spLocks xmlns:a="http://schemas.openxmlformats.org/drawingml/2006/main" noGrp="1"/>
          </p:cNvSpPr>
          <p:nvPr/>
        </p:nvSpPr>
        <p:spPr>
          <a:xfrm xmlns:a="http://schemas.openxmlformats.org/drawingml/2006/main">
            <a:off x="5810250" y="3762375"/>
            <a:ext cx="1276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825" b="0">
                <a:solidFill>
                  <a:srgbClr val="102A43"/>
                </a:solidFill>
                <a:latin typeface="Yu Gothic"/>
                <a:ea typeface="Yu Gothic"/>
                <a:cs typeface="Yu Gothic"/>
              </a:defRPr>
            </a:pPr>
            <a:r>
              <a:rPr sz="825" b="0">
                <a:solidFill>
                  <a:srgbClr val="102A43"/>
                </a:solidFill>
                <a:latin typeface="Yu Gothic"/>
                <a:ea typeface="Yu Gothic"/>
                <a:cs typeface="Yu Gothic"/>
              </a:rPr>
              <a:t>TCP 3389 / 22</a:t>
            </a:r>
          </a:p>
          <a:p xmlns:a="http://schemas.openxmlformats.org/drawingml/2006/main">
            <a:pPr algn="ctr">
              <a:defRPr sz="825" b="0">
                <a:solidFill>
                  <a:srgbClr val="102A43"/>
                </a:solidFill>
                <a:latin typeface="Yu Gothic"/>
                <a:ea typeface="Yu Gothic"/>
                <a:cs typeface="Yu Gothic"/>
              </a:defRPr>
            </a:pPr>
            <a:r>
              <a:rPr sz="825" b="0">
                <a:solidFill>
                  <a:srgbClr val="102A43"/>
                </a:solidFill>
                <a:latin typeface="Yu Gothic"/>
                <a:ea typeface="Yu Gothic"/>
                <a:cs typeface="Yu Gothic"/>
              </a:rPr>
              <a:t>Private</a:t>
            </a:r>
          </a:p>
        </p:txBody>
      </p:sp>
      <p:sp>
        <p:nvSpPr>
          <p:cNvPr id="36" name="">
            <a:extLst xmlns:a="http://schemas.openxmlformats.org/drawingml/2006/main">
              <a:ext uri="{FF2B5EF4-FFF2-40B4-BE49-F238E27FC236}">
                <a16:creationId xmlns:a16="http://schemas.microsoft.com/office/drawing/2014/main" id="{746F852C-9727-4DF7-A04C-D37DFC1F7BEB}"/>
              </a:ext>
            </a:extLst>
          </p:cNvPr>
          <p:cNvSpPr>
            <a:spLocks xmlns:a="http://schemas.openxmlformats.org/drawingml/2006/main" noGrp="1"/>
          </p:cNvSpPr>
          <p:nvPr/>
        </p:nvSpPr>
        <p:spPr>
          <a:xfrm xmlns:a="http://schemas.openxmlformats.org/drawingml/2006/main">
            <a:off x="7162800" y="3695700"/>
            <a:ext cx="41910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37" name="">
            <a:extLst xmlns:a="http://schemas.openxmlformats.org/drawingml/2006/main">
              <a:ext uri="{FF2B5EF4-FFF2-40B4-BE49-F238E27FC236}">
                <a16:creationId xmlns:a16="http://schemas.microsoft.com/office/drawing/2014/main" id="{F723CD72-6151-4DB7-B9DD-376F10E57D29}"/>
              </a:ext>
            </a:extLst>
          </p:cNvPr>
          <p:cNvSpPr>
            <a:spLocks xmlns:a="http://schemas.openxmlformats.org/drawingml/2006/main" noGrp="1"/>
          </p:cNvSpPr>
          <p:nvPr/>
        </p:nvSpPr>
        <p:spPr>
          <a:xfrm xmlns:a="http://schemas.openxmlformats.org/drawingml/2006/main">
            <a:off x="7239000" y="3762375"/>
            <a:ext cx="4038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1F2933"/>
                </a:solidFill>
                <a:latin typeface="Yu Gothic"/>
                <a:ea typeface="Yu Gothic"/>
                <a:cs typeface="Yu Gothic"/>
              </a:defRPr>
            </a:pPr>
            <a:r>
              <a:rPr sz="825" b="0">
                <a:solidFill>
                  <a:srgbClr val="1F2933"/>
                </a:solidFill>
                <a:latin typeface="Yu Gothic"/>
                <a:ea typeface="Yu Gothic"/>
                <a:cs typeface="Yu Gothic"/>
              </a:rPr>
              <a:t>対象サブネットの NSG で管理元を限定</a:t>
            </a:r>
          </a:p>
        </p:txBody>
      </p:sp>
      <p:sp>
        <p:nvSpPr>
          <p:cNvPr id="38" name="">
            <a:extLst xmlns:a="http://schemas.openxmlformats.org/drawingml/2006/main">
              <a:ext uri="{FF2B5EF4-FFF2-40B4-BE49-F238E27FC236}">
                <a16:creationId xmlns:a16="http://schemas.microsoft.com/office/drawing/2014/main" id="{3AE59FEE-79ED-4438-9DD4-6DFF7512E74E}"/>
              </a:ext>
            </a:extLst>
          </p:cNvPr>
          <p:cNvSpPr>
            <a:spLocks xmlns:a="http://schemas.openxmlformats.org/drawingml/2006/main" noGrp="1"/>
          </p:cNvSpPr>
          <p:nvPr/>
        </p:nvSpPr>
        <p:spPr>
          <a:xfrm xmlns:a="http://schemas.openxmlformats.org/drawingml/2006/main">
            <a:off x="685800" y="4438650"/>
            <a:ext cx="26670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39" name="">
            <a:extLst xmlns:a="http://schemas.openxmlformats.org/drawingml/2006/main">
              <a:ext uri="{FF2B5EF4-FFF2-40B4-BE49-F238E27FC236}">
                <a16:creationId xmlns:a16="http://schemas.microsoft.com/office/drawing/2014/main" id="{BA334B4E-E1D1-41A7-88E4-6D8F910D5BB2}"/>
              </a:ext>
            </a:extLst>
          </p:cNvPr>
          <p:cNvSpPr>
            <a:spLocks xmlns:a="http://schemas.openxmlformats.org/drawingml/2006/main" noGrp="1"/>
          </p:cNvSpPr>
          <p:nvPr/>
        </p:nvSpPr>
        <p:spPr>
          <a:xfrm xmlns:a="http://schemas.openxmlformats.org/drawingml/2006/main">
            <a:off x="762000" y="4505325"/>
            <a:ext cx="2514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1">
                <a:solidFill>
                  <a:srgbClr val="1F2933"/>
                </a:solidFill>
                <a:latin typeface="Yu Gothic"/>
                <a:ea typeface="Yu Gothic"/>
                <a:cs typeface="Yu Gothic"/>
              </a:defRPr>
            </a:pPr>
            <a:r>
              <a:rPr sz="900" b="1">
                <a:solidFill>
                  <a:srgbClr val="1F2933"/>
                </a:solidFill>
                <a:latin typeface="Yu Gothic"/>
                <a:ea typeface="Yu Gothic"/>
                <a:cs typeface="Yu Gothic"/>
              </a:rPr>
              <a:t>MID Server → Discovery target</a:t>
            </a:r>
          </a:p>
        </p:txBody>
      </p:sp>
      <p:sp>
        <p:nvSpPr>
          <p:cNvPr id="40" name="">
            <a:extLst xmlns:a="http://schemas.openxmlformats.org/drawingml/2006/main">
              <a:ext uri="{FF2B5EF4-FFF2-40B4-BE49-F238E27FC236}">
                <a16:creationId xmlns:a16="http://schemas.microsoft.com/office/drawing/2014/main" id="{35324436-C91C-401C-9BD9-FFC97E626575}"/>
              </a:ext>
            </a:extLst>
          </p:cNvPr>
          <p:cNvSpPr>
            <a:spLocks xmlns:a="http://schemas.openxmlformats.org/drawingml/2006/main" noGrp="1"/>
          </p:cNvSpPr>
          <p:nvPr/>
        </p:nvSpPr>
        <p:spPr>
          <a:xfrm xmlns:a="http://schemas.openxmlformats.org/drawingml/2006/main">
            <a:off x="3352800" y="4438650"/>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41" name="">
            <a:extLst xmlns:a="http://schemas.openxmlformats.org/drawingml/2006/main">
              <a:ext uri="{FF2B5EF4-FFF2-40B4-BE49-F238E27FC236}">
                <a16:creationId xmlns:a16="http://schemas.microsoft.com/office/drawing/2014/main" id="{0523D46B-D717-4A30-8FAE-2B067BA40D30}"/>
              </a:ext>
            </a:extLst>
          </p:cNvPr>
          <p:cNvSpPr>
            <a:spLocks xmlns:a="http://schemas.openxmlformats.org/drawingml/2006/main" noGrp="1"/>
          </p:cNvSpPr>
          <p:nvPr/>
        </p:nvSpPr>
        <p:spPr>
          <a:xfrm xmlns:a="http://schemas.openxmlformats.org/drawingml/2006/main">
            <a:off x="3429000" y="4505325"/>
            <a:ext cx="2228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1F2933"/>
                </a:solidFill>
                <a:latin typeface="Yu Gothic"/>
                <a:ea typeface="Yu Gothic"/>
                <a:cs typeface="Yu Gothic"/>
              </a:defRPr>
            </a:pPr>
            <a:r>
              <a:rPr sz="825" b="0">
                <a:solidFill>
                  <a:srgbClr val="1F2933"/>
                </a:solidFill>
                <a:latin typeface="Yu Gothic"/>
                <a:ea typeface="Yu Gothic"/>
                <a:cs typeface="Yu Gothic"/>
              </a:rPr>
              <a:t>Discovery / credentialed scan</a:t>
            </a:r>
          </a:p>
        </p:txBody>
      </p:sp>
      <p:sp>
        <p:nvSpPr>
          <p:cNvPr id="42" name="">
            <a:extLst xmlns:a="http://schemas.openxmlformats.org/drawingml/2006/main">
              <a:ext uri="{FF2B5EF4-FFF2-40B4-BE49-F238E27FC236}">
                <a16:creationId xmlns:a16="http://schemas.microsoft.com/office/drawing/2014/main" id="{671A1DDD-5337-422A-AC40-F835A6E29BF1}"/>
              </a:ext>
            </a:extLst>
          </p:cNvPr>
          <p:cNvSpPr>
            <a:spLocks xmlns:a="http://schemas.openxmlformats.org/drawingml/2006/main" noGrp="1"/>
          </p:cNvSpPr>
          <p:nvPr/>
        </p:nvSpPr>
        <p:spPr>
          <a:xfrm xmlns:a="http://schemas.openxmlformats.org/drawingml/2006/main">
            <a:off x="5734050" y="4438650"/>
            <a:ext cx="1428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43" name="">
            <a:extLst xmlns:a="http://schemas.openxmlformats.org/drawingml/2006/main">
              <a:ext uri="{FF2B5EF4-FFF2-40B4-BE49-F238E27FC236}">
                <a16:creationId xmlns:a16="http://schemas.microsoft.com/office/drawing/2014/main" id="{39FE336F-67ED-497D-B704-7008000977DF}"/>
              </a:ext>
            </a:extLst>
          </p:cNvPr>
          <p:cNvSpPr>
            <a:spLocks xmlns:a="http://schemas.openxmlformats.org/drawingml/2006/main" noGrp="1"/>
          </p:cNvSpPr>
          <p:nvPr/>
        </p:nvSpPr>
        <p:spPr>
          <a:xfrm xmlns:a="http://schemas.openxmlformats.org/drawingml/2006/main">
            <a:off x="5810250" y="4505325"/>
            <a:ext cx="1276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825" b="0">
                <a:solidFill>
                  <a:srgbClr val="102A43"/>
                </a:solidFill>
                <a:latin typeface="Yu Gothic"/>
                <a:ea typeface="Yu Gothic"/>
                <a:cs typeface="Yu Gothic"/>
              </a:defRPr>
            </a:pPr>
            <a:r>
              <a:rPr sz="825" b="0">
                <a:solidFill>
                  <a:srgbClr val="102A43"/>
                </a:solidFill>
                <a:latin typeface="Yu Gothic"/>
                <a:ea typeface="Yu Gothic"/>
                <a:cs typeface="Yu Gothic"/>
              </a:rPr>
              <a:t>Linux: 22</a:t>
            </a:r>
          </a:p>
          <a:p xmlns:a="http://schemas.openxmlformats.org/drawingml/2006/main">
            <a:pPr algn="ctr">
              <a:defRPr sz="825" b="0">
                <a:solidFill>
                  <a:srgbClr val="102A43"/>
                </a:solidFill>
                <a:latin typeface="Yu Gothic"/>
                <a:ea typeface="Yu Gothic"/>
                <a:cs typeface="Yu Gothic"/>
              </a:defRPr>
            </a:pPr>
            <a:r>
              <a:rPr sz="825" b="0">
                <a:solidFill>
                  <a:srgbClr val="102A43"/>
                </a:solidFill>
                <a:latin typeface="Yu Gothic"/>
                <a:ea typeface="Yu Gothic"/>
                <a:cs typeface="Yu Gothic"/>
              </a:rPr>
              <a:t>Windows: 135/445/5985/5986</a:t>
            </a:r>
          </a:p>
        </p:txBody>
      </p:sp>
      <p:sp>
        <p:nvSpPr>
          <p:cNvPr id="44" name="">
            <a:extLst xmlns:a="http://schemas.openxmlformats.org/drawingml/2006/main">
              <a:ext uri="{FF2B5EF4-FFF2-40B4-BE49-F238E27FC236}">
                <a16:creationId xmlns:a16="http://schemas.microsoft.com/office/drawing/2014/main" id="{0115608B-F2E9-4CCF-9844-59E6BA77A5A4}"/>
              </a:ext>
            </a:extLst>
          </p:cNvPr>
          <p:cNvSpPr>
            <a:spLocks xmlns:a="http://schemas.openxmlformats.org/drawingml/2006/main" noGrp="1"/>
          </p:cNvSpPr>
          <p:nvPr/>
        </p:nvSpPr>
        <p:spPr>
          <a:xfrm xmlns:a="http://schemas.openxmlformats.org/drawingml/2006/main">
            <a:off x="7162800" y="4438650"/>
            <a:ext cx="41910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45" name="">
            <a:extLst xmlns:a="http://schemas.openxmlformats.org/drawingml/2006/main">
              <a:ext uri="{FF2B5EF4-FFF2-40B4-BE49-F238E27FC236}">
                <a16:creationId xmlns:a16="http://schemas.microsoft.com/office/drawing/2014/main" id="{5AE35004-677A-4965-B5B4-BBA30049A8E5}"/>
              </a:ext>
            </a:extLst>
          </p:cNvPr>
          <p:cNvSpPr>
            <a:spLocks xmlns:a="http://schemas.openxmlformats.org/drawingml/2006/main" noGrp="1"/>
          </p:cNvSpPr>
          <p:nvPr/>
        </p:nvSpPr>
        <p:spPr>
          <a:xfrm xmlns:a="http://schemas.openxmlformats.org/drawingml/2006/main">
            <a:off x="7239000" y="4505325"/>
            <a:ext cx="4038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1F2933"/>
                </a:solidFill>
                <a:latin typeface="Yu Gothic"/>
                <a:ea typeface="Yu Gothic"/>
                <a:cs typeface="Yu Gothic"/>
              </a:defRPr>
            </a:pPr>
            <a:r>
              <a:rPr sz="825" b="0">
                <a:solidFill>
                  <a:srgbClr val="1F2933"/>
                </a:solidFill>
                <a:latin typeface="Yu Gothic"/>
                <a:ea typeface="Yu Gothic"/>
                <a:cs typeface="Yu Gothic"/>
              </a:rPr>
              <a:t>Discovery を実施する場合だけ対象側に開ける</a:t>
            </a:r>
          </a:p>
        </p:txBody>
      </p:sp>
      <p:sp>
        <p:nvSpPr>
          <p:cNvPr id="46" name="">
            <a:extLst xmlns:a="http://schemas.openxmlformats.org/drawingml/2006/main">
              <a:ext uri="{FF2B5EF4-FFF2-40B4-BE49-F238E27FC236}">
                <a16:creationId xmlns:a16="http://schemas.microsoft.com/office/drawing/2014/main" id="{DCFC5C61-6D1B-4B20-9D7C-9AE482A97EFA}"/>
              </a:ext>
            </a:extLst>
          </p:cNvPr>
          <p:cNvSpPr>
            <a:spLocks xmlns:a="http://schemas.openxmlformats.org/drawingml/2006/main" noGrp="1"/>
          </p:cNvSpPr>
          <p:nvPr/>
        </p:nvSpPr>
        <p:spPr>
          <a:xfrm xmlns:a="http://schemas.openxmlformats.org/drawingml/2006/main">
            <a:off x="685800" y="5181600"/>
            <a:ext cx="2667000" cy="742950"/>
          </a:xfrm>
          <a:prstGeom xmlns:a="http://schemas.openxmlformats.org/drawingml/2006/main" prst="rect">
            <a:avLst/>
          </a:prstGeom>
          <a:solidFill xmlns:a="http://schemas.openxmlformats.org/drawingml/2006/main">
            <a:srgbClr val="EAF7F0"/>
          </a:solidFill>
          <a:ln xmlns:a="http://schemas.openxmlformats.org/drawingml/2006/main" w="9525">
            <a:solidFill>
              <a:srgbClr val="C5CCD2"/>
            </a:solidFill>
            <a:prstDash val="solid"/>
          </a:ln>
        </p:spPr>
      </p:sp>
      <p:sp>
        <p:nvSpPr>
          <p:cNvPr id="47" name="">
            <a:extLst xmlns:a="http://schemas.openxmlformats.org/drawingml/2006/main">
              <a:ext uri="{FF2B5EF4-FFF2-40B4-BE49-F238E27FC236}">
                <a16:creationId xmlns:a16="http://schemas.microsoft.com/office/drawing/2014/main" id="{0C4CDE0A-DBCB-40EF-ACD7-EFAB87D3FA99}"/>
              </a:ext>
            </a:extLst>
          </p:cNvPr>
          <p:cNvSpPr>
            <a:spLocks xmlns:a="http://schemas.openxmlformats.org/drawingml/2006/main" noGrp="1"/>
          </p:cNvSpPr>
          <p:nvPr/>
        </p:nvSpPr>
        <p:spPr>
          <a:xfrm xmlns:a="http://schemas.openxmlformats.org/drawingml/2006/main">
            <a:off x="762000" y="5248275"/>
            <a:ext cx="2514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900" b="1">
                <a:solidFill>
                  <a:srgbClr val="1F2933"/>
                </a:solidFill>
                <a:latin typeface="Yu Gothic"/>
                <a:ea typeface="Yu Gothic"/>
                <a:cs typeface="Yu Gothic"/>
              </a:defRPr>
            </a:pPr>
            <a:r>
              <a:rPr sz="900" b="1">
                <a:solidFill>
                  <a:srgbClr val="1F2933"/>
                </a:solidFill>
                <a:latin typeface="Yu Gothic"/>
                <a:ea typeface="Yu Gothic"/>
                <a:cs typeface="Yu Gothic"/>
              </a:rPr>
              <a:t>ServiceNow → MID Server</a:t>
            </a:r>
          </a:p>
        </p:txBody>
      </p:sp>
      <p:sp>
        <p:nvSpPr>
          <p:cNvPr id="48" name="">
            <a:extLst xmlns:a="http://schemas.openxmlformats.org/drawingml/2006/main">
              <a:ext uri="{FF2B5EF4-FFF2-40B4-BE49-F238E27FC236}">
                <a16:creationId xmlns:a16="http://schemas.microsoft.com/office/drawing/2014/main" id="{1B658802-0A0A-4859-A5AF-87004F275D43}"/>
              </a:ext>
            </a:extLst>
          </p:cNvPr>
          <p:cNvSpPr>
            <a:spLocks xmlns:a="http://schemas.openxmlformats.org/drawingml/2006/main" noGrp="1"/>
          </p:cNvSpPr>
          <p:nvPr/>
        </p:nvSpPr>
        <p:spPr>
          <a:xfrm xmlns:a="http://schemas.openxmlformats.org/drawingml/2006/main">
            <a:off x="3352800" y="5181600"/>
            <a:ext cx="2381250" cy="742950"/>
          </a:xfrm>
          <a:prstGeom xmlns:a="http://schemas.openxmlformats.org/drawingml/2006/main" prst="rect">
            <a:avLst/>
          </a:prstGeom>
          <a:solidFill xmlns:a="http://schemas.openxmlformats.org/drawingml/2006/main">
            <a:srgbClr val="EAF7F0"/>
          </a:solidFill>
          <a:ln xmlns:a="http://schemas.openxmlformats.org/drawingml/2006/main" w="9525">
            <a:solidFill>
              <a:srgbClr val="C5CCD2"/>
            </a:solidFill>
            <a:prstDash val="solid"/>
          </a:ln>
        </p:spPr>
      </p:sp>
      <p:sp>
        <p:nvSpPr>
          <p:cNvPr id="49" name="">
            <a:extLst xmlns:a="http://schemas.openxmlformats.org/drawingml/2006/main">
              <a:ext uri="{FF2B5EF4-FFF2-40B4-BE49-F238E27FC236}">
                <a16:creationId xmlns:a16="http://schemas.microsoft.com/office/drawing/2014/main" id="{542805D9-DB16-4A2F-91E6-46D2291D81A7}"/>
              </a:ext>
            </a:extLst>
          </p:cNvPr>
          <p:cNvSpPr>
            <a:spLocks xmlns:a="http://schemas.openxmlformats.org/drawingml/2006/main" noGrp="1"/>
          </p:cNvSpPr>
          <p:nvPr/>
        </p:nvSpPr>
        <p:spPr>
          <a:xfrm xmlns:a="http://schemas.openxmlformats.org/drawingml/2006/main">
            <a:off x="3429000" y="5248275"/>
            <a:ext cx="2228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1F2933"/>
                </a:solidFill>
                <a:latin typeface="Yu Gothic"/>
                <a:ea typeface="Yu Gothic"/>
                <a:cs typeface="Yu Gothic"/>
              </a:defRPr>
            </a:pPr>
            <a:r>
              <a:rPr sz="825" b="0">
                <a:solidFill>
                  <a:srgbClr val="1F2933"/>
                </a:solidFill>
                <a:latin typeface="Yu Gothic"/>
                <a:ea typeface="Yu Gothic"/>
                <a:cs typeface="Yu Gothic"/>
              </a:rPr>
              <a:t>Inbound connection</a:t>
            </a:r>
          </a:p>
        </p:txBody>
      </p:sp>
      <p:sp>
        <p:nvSpPr>
          <p:cNvPr id="50" name="">
            <a:extLst xmlns:a="http://schemas.openxmlformats.org/drawingml/2006/main">
              <a:ext uri="{FF2B5EF4-FFF2-40B4-BE49-F238E27FC236}">
                <a16:creationId xmlns:a16="http://schemas.microsoft.com/office/drawing/2014/main" id="{BA5BE6C5-4975-47E4-BB32-AE8D9B9E05EF}"/>
              </a:ext>
            </a:extLst>
          </p:cNvPr>
          <p:cNvSpPr>
            <a:spLocks xmlns:a="http://schemas.openxmlformats.org/drawingml/2006/main" noGrp="1"/>
          </p:cNvSpPr>
          <p:nvPr/>
        </p:nvSpPr>
        <p:spPr>
          <a:xfrm xmlns:a="http://schemas.openxmlformats.org/drawingml/2006/main">
            <a:off x="5734050" y="5181600"/>
            <a:ext cx="1428750" cy="742950"/>
          </a:xfrm>
          <a:prstGeom xmlns:a="http://schemas.openxmlformats.org/drawingml/2006/main" prst="rect">
            <a:avLst/>
          </a:prstGeom>
          <a:solidFill xmlns:a="http://schemas.openxmlformats.org/drawingml/2006/main">
            <a:srgbClr val="EAF7F0"/>
          </a:solidFill>
          <a:ln xmlns:a="http://schemas.openxmlformats.org/drawingml/2006/main" w="9525">
            <a:solidFill>
              <a:srgbClr val="C5CCD2"/>
            </a:solidFill>
            <a:prstDash val="solid"/>
          </a:ln>
        </p:spPr>
      </p:sp>
      <p:sp>
        <p:nvSpPr>
          <p:cNvPr id="51" name="">
            <a:extLst xmlns:a="http://schemas.openxmlformats.org/drawingml/2006/main">
              <a:ext uri="{FF2B5EF4-FFF2-40B4-BE49-F238E27FC236}">
                <a16:creationId xmlns:a16="http://schemas.microsoft.com/office/drawing/2014/main" id="{D025C733-9EAB-4C51-9544-23F6A142DF13}"/>
              </a:ext>
            </a:extLst>
          </p:cNvPr>
          <p:cNvSpPr>
            <a:spLocks xmlns:a="http://schemas.openxmlformats.org/drawingml/2006/main" noGrp="1"/>
          </p:cNvSpPr>
          <p:nvPr/>
        </p:nvSpPr>
        <p:spPr>
          <a:xfrm xmlns:a="http://schemas.openxmlformats.org/drawingml/2006/main">
            <a:off x="5810250" y="5248275"/>
            <a:ext cx="1276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825" b="0">
                <a:solidFill>
                  <a:srgbClr val="102A43"/>
                </a:solidFill>
                <a:latin typeface="Yu Gothic"/>
                <a:ea typeface="Yu Gothic"/>
                <a:cs typeface="Yu Gothic"/>
              </a:defRPr>
            </a:pPr>
            <a:r>
              <a:rPr sz="825" b="0">
                <a:solidFill>
                  <a:srgbClr val="102A43"/>
                </a:solidFill>
                <a:latin typeface="Yu Gothic"/>
                <a:ea typeface="Yu Gothic"/>
                <a:cs typeface="Yu Gothic"/>
              </a:rPr>
              <a:t>通常不要</a:t>
            </a:r>
          </a:p>
        </p:txBody>
      </p:sp>
      <p:sp>
        <p:nvSpPr>
          <p:cNvPr id="52" name="">
            <a:extLst xmlns:a="http://schemas.openxmlformats.org/drawingml/2006/main">
              <a:ext uri="{FF2B5EF4-FFF2-40B4-BE49-F238E27FC236}">
                <a16:creationId xmlns:a16="http://schemas.microsoft.com/office/drawing/2014/main" id="{80D8DEA9-6B0E-4C99-A40B-42777F7A8636}"/>
              </a:ext>
            </a:extLst>
          </p:cNvPr>
          <p:cNvSpPr>
            <a:spLocks xmlns:a="http://schemas.openxmlformats.org/drawingml/2006/main" noGrp="1"/>
          </p:cNvSpPr>
          <p:nvPr/>
        </p:nvSpPr>
        <p:spPr>
          <a:xfrm xmlns:a="http://schemas.openxmlformats.org/drawingml/2006/main">
            <a:off x="7162800" y="5181600"/>
            <a:ext cx="4191000" cy="742950"/>
          </a:xfrm>
          <a:prstGeom xmlns:a="http://schemas.openxmlformats.org/drawingml/2006/main" prst="rect">
            <a:avLst/>
          </a:prstGeom>
          <a:solidFill xmlns:a="http://schemas.openxmlformats.org/drawingml/2006/main">
            <a:srgbClr val="EAF7F0"/>
          </a:solidFill>
          <a:ln xmlns:a="http://schemas.openxmlformats.org/drawingml/2006/main" w="9525">
            <a:solidFill>
              <a:srgbClr val="C5CCD2"/>
            </a:solidFill>
            <a:prstDash val="solid"/>
          </a:ln>
        </p:spPr>
      </p:sp>
      <p:sp>
        <p:nvSpPr>
          <p:cNvPr id="53" name="">
            <a:extLst xmlns:a="http://schemas.openxmlformats.org/drawingml/2006/main">
              <a:ext uri="{FF2B5EF4-FFF2-40B4-BE49-F238E27FC236}">
                <a16:creationId xmlns:a16="http://schemas.microsoft.com/office/drawing/2014/main" id="{A1F84CB5-6792-416D-AA68-7BDA2FC5DC55}"/>
              </a:ext>
            </a:extLst>
          </p:cNvPr>
          <p:cNvSpPr>
            <a:spLocks xmlns:a="http://schemas.openxmlformats.org/drawingml/2006/main" noGrp="1"/>
          </p:cNvSpPr>
          <p:nvPr/>
        </p:nvSpPr>
        <p:spPr>
          <a:xfrm xmlns:a="http://schemas.openxmlformats.org/drawingml/2006/main">
            <a:off x="7239000" y="5248275"/>
            <a:ext cx="4038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1F2933"/>
                </a:solidFill>
                <a:latin typeface="Yu Gothic"/>
                <a:ea typeface="Yu Gothic"/>
                <a:cs typeface="Yu Gothic"/>
              </a:defRPr>
            </a:pPr>
            <a:r>
              <a:rPr sz="825" b="0">
                <a:solidFill>
                  <a:srgbClr val="1F2933"/>
                </a:solidFill>
                <a:latin typeface="Yu Gothic"/>
                <a:ea typeface="Yu Gothic"/>
                <a:cs typeface="Yu Gothic"/>
              </a:rPr>
              <a:t>ServiceNow から MID Server へのインターネット入 inbound は開けない</a:t>
            </a:r>
          </a:p>
        </p:txBody>
      </p:sp>
      <p:sp>
        <p:nvSpPr>
          <p:cNvPr id="54" name="">
            <a:extLst xmlns:a="http://schemas.openxmlformats.org/drawingml/2006/main">
              <a:ext uri="{FF2B5EF4-FFF2-40B4-BE49-F238E27FC236}">
                <a16:creationId xmlns:a16="http://schemas.microsoft.com/office/drawing/2014/main" id="{DF8E29DD-3DA4-4113-9A42-65B073BB7827}"/>
              </a:ext>
            </a:extLst>
          </p:cNvPr>
          <p:cNvSpPr>
            <a:spLocks xmlns:a="http://schemas.openxmlformats.org/drawingml/2006/main" noGrp="1"/>
          </p:cNvSpPr>
          <p:nvPr/>
        </p:nvSpPr>
        <p:spPr>
          <a:xfrm xmlns:a="http://schemas.openxmlformats.org/drawingml/2006/main">
            <a:off x="685800" y="6019800"/>
            <a:ext cx="10382250" cy="342900"/>
          </a:xfrm>
          <a:prstGeom xmlns:a="http://schemas.openxmlformats.org/drawingml/2006/main" prst="rect">
            <a:avLst/>
          </a:prstGeom>
          <a:solidFill xmlns:a="http://schemas.openxmlformats.org/drawingml/2006/main">
            <a:srgbClr val="FFF7E6"/>
          </a:solidFill>
          <a:ln xmlns:a="http://schemas.openxmlformats.org/drawingml/2006/main" w="9525">
            <a:solidFill>
              <a:srgbClr val="D28A00"/>
            </a:solidFill>
            <a:prstDash val="solid"/>
          </a:ln>
        </p:spPr>
      </p:sp>
      <p:sp>
        <p:nvSpPr>
          <p:cNvPr id="55" name="">
            <a:extLst xmlns:a="http://schemas.openxmlformats.org/drawingml/2006/main">
              <a:ext uri="{FF2B5EF4-FFF2-40B4-BE49-F238E27FC236}">
                <a16:creationId xmlns:a16="http://schemas.microsoft.com/office/drawing/2014/main" id="{98316A28-E29D-40A8-AC57-07E9517F610D}"/>
              </a:ext>
            </a:extLst>
          </p:cNvPr>
          <p:cNvSpPr>
            <a:spLocks xmlns:a="http://schemas.openxmlformats.org/drawingml/2006/main" noGrp="1"/>
          </p:cNvSpPr>
          <p:nvPr/>
        </p:nvSpPr>
        <p:spPr>
          <a:xfrm xmlns:a="http://schemas.openxmlformats.org/drawingml/2006/main">
            <a:off x="819150" y="6096000"/>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825" b="0">
                <a:solidFill>
                  <a:srgbClr val="1F2933"/>
                </a:solidFill>
                <a:latin typeface="Yu Gothic"/>
                <a:ea typeface="Yu Gothic"/>
                <a:cs typeface="Yu Gothic"/>
              </a:defRPr>
            </a:pPr>
            <a:r>
              <a:rPr sz="825" b="0">
                <a:solidFill>
                  <a:srgbClr val="1F2933"/>
                </a:solidFill>
                <a:latin typeface="Yu Gothic"/>
                <a:ea typeface="Yu Gothic"/>
                <a:cs typeface="Yu Gothic"/>
              </a:rPr>
              <a:t>注意：Discovery の対象サーバーを別途スキャンする場合、対象 OS・認証方式・Credential・対象側 Firewall によって必要ポートが変わります。</a:t>
            </a:r>
          </a:p>
        </p:txBody>
      </p:sp>
    </p:spTree>
    <p:extLst>
      <p:ext uri="{BB962C8B-B14F-4D97-AF65-F5344CB8AC3E}">
        <p14:creationId xmlns:p14="http://schemas.microsoft.com/office/powerpoint/2010/main" val="3593542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54A498E-DBB6-4BEE-86F7-71768E06CE2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057B8"/>
          </a:solidFill>
          <a:ln xmlns:a="http://schemas.openxmlformats.org/drawingml/2006/main" w="0">
            <a:solidFill>
              <a:srgbClr val="0057B8"/>
            </a:solidFill>
            <a:prstDash val="solid"/>
          </a:ln>
        </p:spPr>
      </p:sp>
      <p:sp>
        <p:nvSpPr>
          <p:cNvPr id="2" name="">
            <a:extLst xmlns:a="http://schemas.openxmlformats.org/drawingml/2006/main">
              <a:ext uri="{FF2B5EF4-FFF2-40B4-BE49-F238E27FC236}">
                <a16:creationId xmlns:a16="http://schemas.microsoft.com/office/drawing/2014/main" id="{EA9B3E41-D924-4D5F-A9CF-1D6776A0ABC3}"/>
              </a:ext>
            </a:extLst>
          </p:cNvPr>
          <p:cNvSpPr>
            <a:spLocks xmlns:a="http://schemas.openxmlformats.org/drawingml/2006/main" noGrp="1"/>
          </p:cNvSpPr>
          <p:nvPr/>
        </p:nvSpPr>
        <p:spPr>
          <a:xfrm xmlns:a="http://schemas.openxmlformats.org/drawingml/2006/main">
            <a:off x="514350" y="257175"/>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1F2933"/>
                </a:solidFill>
                <a:latin typeface="Yu Gothic"/>
                <a:ea typeface="Yu Gothic"/>
                <a:cs typeface="Yu Gothic"/>
              </a:defRPr>
            </a:pPr>
            <a:r>
              <a:rPr sz="1425" b="1">
                <a:solidFill>
                  <a:srgbClr val="1F2933"/>
                </a:solidFill>
                <a:latin typeface="Yu Gothic"/>
                <a:ea typeface="Yu Gothic"/>
                <a:cs typeface="Yu Gothic"/>
              </a:rPr>
              <a:t>MID Server / Azure / ServiceNow</a:t>
            </a:r>
          </a:p>
        </p:txBody>
      </p:sp>
      <p:sp>
        <p:nvSpPr>
          <p:cNvPr id="3" name="">
            <a:extLst xmlns:a="http://schemas.openxmlformats.org/drawingml/2006/main">
              <a:ext uri="{FF2B5EF4-FFF2-40B4-BE49-F238E27FC236}">
                <a16:creationId xmlns:a16="http://schemas.microsoft.com/office/drawing/2014/main" id="{1E764F22-C6DC-460A-B2AB-709644C750E0}"/>
              </a:ext>
            </a:extLst>
          </p:cNvPr>
          <p:cNvSpPr>
            <a:spLocks xmlns:a="http://schemas.openxmlformats.org/drawingml/2006/main" noGrp="1"/>
          </p:cNvSpPr>
          <p:nvPr/>
        </p:nvSpPr>
        <p:spPr>
          <a:xfrm xmlns:a="http://schemas.openxmlformats.org/drawingml/2006/main">
            <a:off x="514350" y="5810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2325" b="1">
                <a:solidFill>
                  <a:srgbClr val="102A43"/>
                </a:solidFill>
                <a:latin typeface="Yu Gothic"/>
                <a:ea typeface="Yu Gothic"/>
                <a:cs typeface="Yu Gothic"/>
              </a:defRPr>
            </a:pPr>
            <a:r>
              <a:rPr sz="2325" b="1">
                <a:solidFill>
                  <a:srgbClr val="102A43"/>
                </a:solidFill>
                <a:latin typeface="Yu Gothic"/>
                <a:ea typeface="Yu Gothic"/>
                <a:cs typeface="Yu Gothic"/>
              </a:rPr>
              <a:t>参考图的不足与改进结论</a:t>
            </a:r>
          </a:p>
        </p:txBody>
      </p:sp>
      <p:sp>
        <p:nvSpPr>
          <p:cNvPr id="4" name="">
            <a:extLst xmlns:a="http://schemas.openxmlformats.org/drawingml/2006/main">
              <a:ext uri="{FF2B5EF4-FFF2-40B4-BE49-F238E27FC236}">
                <a16:creationId xmlns:a16="http://schemas.microsoft.com/office/drawing/2014/main" id="{210BFC82-1625-40D5-8590-78E6EB7D0572}"/>
              </a:ext>
            </a:extLst>
          </p:cNvPr>
          <p:cNvSpPr>
            <a:spLocks xmlns:a="http://schemas.openxmlformats.org/drawingml/2006/main" noGrp="1"/>
          </p:cNvSpPr>
          <p:nvPr/>
        </p:nvSpPr>
        <p:spPr>
          <a:xfrm xmlns:a="http://schemas.openxmlformats.org/drawingml/2006/main">
            <a:off x="533400" y="1104900"/>
            <a:ext cx="885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0">
                <a:solidFill>
                  <a:srgbClr val="65717C"/>
                </a:solidFill>
                <a:latin typeface="Yu Gothic"/>
                <a:ea typeface="Yu Gothic"/>
                <a:cs typeface="Yu Gothic"/>
              </a:defRPr>
            </a:pPr>
            <a:r>
              <a:rPr sz="1125" b="0">
                <a:solidFill>
                  <a:srgbClr val="65717C"/>
                </a:solidFill>
                <a:latin typeface="Yu Gothic"/>
                <a:ea typeface="Yu Gothic"/>
                <a:cs typeface="Yu Gothic"/>
              </a:rPr>
              <a:t>Personal Azure + own ServiceNow instance 的最小构成与后续扩展</a:t>
            </a:r>
          </a:p>
        </p:txBody>
      </p:sp>
      <p:sp>
        <p:nvSpPr>
          <p:cNvPr id="5" name="">
            <a:extLst xmlns:a="http://schemas.openxmlformats.org/drawingml/2006/main">
              <a:ext uri="{FF2B5EF4-FFF2-40B4-BE49-F238E27FC236}">
                <a16:creationId xmlns:a16="http://schemas.microsoft.com/office/drawing/2014/main" id="{75333B3D-ABD3-4A03-9905-F36C5BDA3B06}"/>
              </a:ext>
            </a:extLst>
          </p:cNvPr>
          <p:cNvSpPr>
            <a:spLocks xmlns:a="http://schemas.openxmlformats.org/drawingml/2006/main" noGrp="1"/>
          </p:cNvSpPr>
          <p:nvPr/>
        </p:nvSpPr>
        <p:spPr>
          <a:xfrm xmlns:a="http://schemas.openxmlformats.org/drawingml/2006/main">
            <a:off x="10572750" y="285750"/>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050" b="0">
                <a:solidFill>
                  <a:srgbClr val="65717C"/>
                </a:solidFill>
                <a:latin typeface="Yu Gothic"/>
                <a:ea typeface="Yu Gothic"/>
                <a:cs typeface="Yu Gothic"/>
              </a:defRPr>
            </a:pPr>
            <a:r>
              <a:rPr sz="1050" b="0">
                <a:solidFill>
                  <a:srgbClr val="65717C"/>
                </a:solidFill>
                <a:latin typeface="Yu Gothic"/>
                <a:ea typeface="Yu Gothic"/>
                <a:cs typeface="Yu Gothic"/>
              </a:rPr>
              <a:t>ITOM / PoC</a:t>
            </a:r>
          </a:p>
        </p:txBody>
      </p:sp>
      <p:sp>
        <p:nvSpPr>
          <p:cNvPr id="6" name="">
            <a:extLst xmlns:a="http://schemas.openxmlformats.org/drawingml/2006/main">
              <a:ext uri="{FF2B5EF4-FFF2-40B4-BE49-F238E27FC236}">
                <a16:creationId xmlns:a16="http://schemas.microsoft.com/office/drawing/2014/main" id="{F4DB6C28-DFE1-4F99-891F-9E2A7690F08C}"/>
              </a:ext>
            </a:extLst>
          </p:cNvPr>
          <p:cNvSpPr>
            <a:spLocks xmlns:a="http://schemas.openxmlformats.org/drawingml/2006/main" noGrp="1"/>
          </p:cNvSpPr>
          <p:nvPr/>
        </p:nvSpPr>
        <p:spPr>
          <a:xfrm xmlns:a="http://schemas.openxmlformats.org/drawingml/2006/main">
            <a:off x="666750" y="1809750"/>
            <a:ext cx="509587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7" name="">
            <a:extLst xmlns:a="http://schemas.openxmlformats.org/drawingml/2006/main">
              <a:ext uri="{FF2B5EF4-FFF2-40B4-BE49-F238E27FC236}">
                <a16:creationId xmlns:a16="http://schemas.microsoft.com/office/drawing/2014/main" id="{FFE65337-DD0C-485C-A7D9-A4B88057B65F}"/>
              </a:ext>
            </a:extLst>
          </p:cNvPr>
          <p:cNvSpPr>
            <a:spLocks xmlns:a="http://schemas.openxmlformats.org/drawingml/2006/main" noGrp="1"/>
          </p:cNvSpPr>
          <p:nvPr/>
        </p:nvSpPr>
        <p:spPr>
          <a:xfrm xmlns:a="http://schemas.openxmlformats.org/drawingml/2006/main">
            <a:off x="800100" y="1962150"/>
            <a:ext cx="285750" cy="285750"/>
          </a:xfrm>
          <a:prstGeom xmlns:a="http://schemas.openxmlformats.org/drawingml/2006/main" prst="ellipse">
            <a:avLst/>
          </a:prstGeom>
          <a:solidFill xmlns:a="http://schemas.openxmlformats.org/drawingml/2006/main">
            <a:srgbClr val="087A4B"/>
          </a:solidFill>
          <a:ln xmlns:a="http://schemas.openxmlformats.org/drawingml/2006/main" w="0">
            <a:solidFill>
              <a:srgbClr val="087A4B"/>
            </a:solidFill>
            <a:prstDash val="solid"/>
          </a:ln>
        </p:spPr>
      </p:sp>
      <p:sp>
        <p:nvSpPr>
          <p:cNvPr id="8" name="">
            <a:extLst xmlns:a="http://schemas.openxmlformats.org/drawingml/2006/main">
              <a:ext uri="{FF2B5EF4-FFF2-40B4-BE49-F238E27FC236}">
                <a16:creationId xmlns:a16="http://schemas.microsoft.com/office/drawing/2014/main" id="{0F331671-E92A-4CB9-B706-C30BC7BA3171}"/>
              </a:ext>
            </a:extLst>
          </p:cNvPr>
          <p:cNvSpPr>
            <a:spLocks xmlns:a="http://schemas.openxmlformats.org/drawingml/2006/main" noGrp="1"/>
          </p:cNvSpPr>
          <p:nvPr/>
        </p:nvSpPr>
        <p:spPr>
          <a:xfrm xmlns:a="http://schemas.openxmlformats.org/drawingml/2006/main">
            <a:off x="800100" y="19621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1</a:t>
            </a:r>
          </a:p>
        </p:txBody>
      </p:sp>
      <p:sp>
        <p:nvSpPr>
          <p:cNvPr id="9" name="">
            <a:extLst xmlns:a="http://schemas.openxmlformats.org/drawingml/2006/main">
              <a:ext uri="{FF2B5EF4-FFF2-40B4-BE49-F238E27FC236}">
                <a16:creationId xmlns:a16="http://schemas.microsoft.com/office/drawing/2014/main" id="{E70C623F-495D-4BDF-ADDD-B39CF73BC8A1}"/>
              </a:ext>
            </a:extLst>
          </p:cNvPr>
          <p:cNvSpPr>
            <a:spLocks xmlns:a="http://schemas.openxmlformats.org/drawingml/2006/main" noGrp="1"/>
          </p:cNvSpPr>
          <p:nvPr/>
        </p:nvSpPr>
        <p:spPr>
          <a:xfrm xmlns:a="http://schemas.openxmlformats.org/drawingml/2006/main">
            <a:off x="1238250" y="1905000"/>
            <a:ext cx="438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1F2933"/>
                </a:solidFill>
                <a:latin typeface="Yu Gothic"/>
                <a:ea typeface="Yu Gothic"/>
                <a:cs typeface="Yu Gothic"/>
              </a:defRPr>
            </a:pPr>
            <a:r>
              <a:rPr sz="1200" b="1">
                <a:solidFill>
                  <a:srgbClr val="1F2933"/>
                </a:solidFill>
                <a:latin typeface="Yu Gothic"/>
                <a:ea typeface="Yu Gothic"/>
                <a:cs typeface="Yu Gothic"/>
              </a:rPr>
              <a:t>图中的基本构成是正确的</a:t>
            </a:r>
          </a:p>
        </p:txBody>
      </p:sp>
      <p:sp>
        <p:nvSpPr>
          <p:cNvPr id="10" name="">
            <a:extLst xmlns:a="http://schemas.openxmlformats.org/drawingml/2006/main">
              <a:ext uri="{FF2B5EF4-FFF2-40B4-BE49-F238E27FC236}">
                <a16:creationId xmlns:a16="http://schemas.microsoft.com/office/drawing/2014/main" id="{740EE600-BBA6-40F4-9120-36F29784D97B}"/>
              </a:ext>
            </a:extLst>
          </p:cNvPr>
          <p:cNvSpPr>
            <a:spLocks xmlns:a="http://schemas.openxmlformats.org/drawingml/2006/main" noGrp="1"/>
          </p:cNvSpPr>
          <p:nvPr/>
        </p:nvSpPr>
        <p:spPr>
          <a:xfrm xmlns:a="http://schemas.openxmlformats.org/drawingml/2006/main">
            <a:off x="1238250" y="213360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8905"/>
          </a:bodyPr>
          <a:lstStyle xmlns:a="http://schemas.openxmlformats.org/drawingml/2006/main"/>
          <a:p xmlns:a="http://schemas.openxmlformats.org/drawingml/2006/main">
            <a:pPr algn="l">
              <a:defRPr sz="750" b="0">
                <a:solidFill>
                  <a:srgbClr val="65717C"/>
                </a:solidFill>
                <a:latin typeface="Yu Gothic"/>
                <a:ea typeface="Yu Gothic"/>
                <a:cs typeface="Yu Gothic"/>
              </a:defRPr>
            </a:pPr>
            <a:r>
              <a:rPr sz="750" b="0">
                <a:solidFill>
                  <a:srgbClr val="65717C"/>
                </a:solidFill>
                <a:latin typeface="Yu Gothic"/>
                <a:ea typeface="Yu Gothic"/>
                <a:cs typeface="Yu Gothic"/>
              </a:rPr>
              <a:t>Subscription → VNet → MID Server subnet → two MID Servers → ServiceNow outbound connection</a:t>
            </a:r>
          </a:p>
        </p:txBody>
      </p:sp>
      <p:sp>
        <p:nvSpPr>
          <p:cNvPr id="11" name="">
            <a:extLst xmlns:a="http://schemas.openxmlformats.org/drawingml/2006/main">
              <a:ext uri="{FF2B5EF4-FFF2-40B4-BE49-F238E27FC236}">
                <a16:creationId xmlns:a16="http://schemas.microsoft.com/office/drawing/2014/main" id="{67F06801-A1AF-4922-BC8B-274A87DBE967}"/>
              </a:ext>
            </a:extLst>
          </p:cNvPr>
          <p:cNvSpPr>
            <a:spLocks xmlns:a="http://schemas.openxmlformats.org/drawingml/2006/main" noGrp="1"/>
          </p:cNvSpPr>
          <p:nvPr/>
        </p:nvSpPr>
        <p:spPr>
          <a:xfrm xmlns:a="http://schemas.openxmlformats.org/drawingml/2006/main">
            <a:off x="666750" y="2524125"/>
            <a:ext cx="509587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12" name="">
            <a:extLst xmlns:a="http://schemas.openxmlformats.org/drawingml/2006/main">
              <a:ext uri="{FF2B5EF4-FFF2-40B4-BE49-F238E27FC236}">
                <a16:creationId xmlns:a16="http://schemas.microsoft.com/office/drawing/2014/main" id="{09998877-1E61-4B26-AEA8-22228F613BEE}"/>
              </a:ext>
            </a:extLst>
          </p:cNvPr>
          <p:cNvSpPr>
            <a:spLocks xmlns:a="http://schemas.openxmlformats.org/drawingml/2006/main" noGrp="1"/>
          </p:cNvSpPr>
          <p:nvPr/>
        </p:nvSpPr>
        <p:spPr>
          <a:xfrm xmlns:a="http://schemas.openxmlformats.org/drawingml/2006/main">
            <a:off x="800100" y="2676525"/>
            <a:ext cx="285750" cy="285750"/>
          </a:xfrm>
          <a:prstGeom xmlns:a="http://schemas.openxmlformats.org/drawingml/2006/main" prst="ellipse">
            <a:avLst/>
          </a:prstGeom>
          <a:solidFill xmlns:a="http://schemas.openxmlformats.org/drawingml/2006/main">
            <a:srgbClr val="B91C2B"/>
          </a:solidFill>
          <a:ln xmlns:a="http://schemas.openxmlformats.org/drawingml/2006/main" w="0">
            <a:solidFill>
              <a:srgbClr val="B91C2B"/>
            </a:solidFill>
            <a:prstDash val="solid"/>
          </a:ln>
        </p:spPr>
      </p:sp>
      <p:sp>
        <p:nvSpPr>
          <p:cNvPr id="13" name="">
            <a:extLst xmlns:a="http://schemas.openxmlformats.org/drawingml/2006/main">
              <a:ext uri="{FF2B5EF4-FFF2-40B4-BE49-F238E27FC236}">
                <a16:creationId xmlns:a16="http://schemas.microsoft.com/office/drawing/2014/main" id="{52DCC222-2003-4D5F-8545-ECC7B8621EA8}"/>
              </a:ext>
            </a:extLst>
          </p:cNvPr>
          <p:cNvSpPr>
            <a:spLocks xmlns:a="http://schemas.openxmlformats.org/drawingml/2006/main" noGrp="1"/>
          </p:cNvSpPr>
          <p:nvPr/>
        </p:nvSpPr>
        <p:spPr>
          <a:xfrm xmlns:a="http://schemas.openxmlformats.org/drawingml/2006/main">
            <a:off x="800100" y="26765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2</a:t>
            </a:r>
          </a:p>
        </p:txBody>
      </p:sp>
      <p:sp>
        <p:nvSpPr>
          <p:cNvPr id="14" name="">
            <a:extLst xmlns:a="http://schemas.openxmlformats.org/drawingml/2006/main">
              <a:ext uri="{FF2B5EF4-FFF2-40B4-BE49-F238E27FC236}">
                <a16:creationId xmlns:a16="http://schemas.microsoft.com/office/drawing/2014/main" id="{DCA25104-71D1-4B5E-98D3-5E8DA243479C}"/>
              </a:ext>
            </a:extLst>
          </p:cNvPr>
          <p:cNvSpPr>
            <a:spLocks xmlns:a="http://schemas.openxmlformats.org/drawingml/2006/main" noGrp="1"/>
          </p:cNvSpPr>
          <p:nvPr/>
        </p:nvSpPr>
        <p:spPr>
          <a:xfrm xmlns:a="http://schemas.openxmlformats.org/drawingml/2006/main">
            <a:off x="1238250" y="2619375"/>
            <a:ext cx="438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1F2933"/>
                </a:solidFill>
                <a:latin typeface="Yu Gothic"/>
                <a:ea typeface="Yu Gothic"/>
                <a:cs typeface="Yu Gothic"/>
              </a:defRPr>
            </a:pPr>
            <a:r>
              <a:rPr sz="1200" b="1">
                <a:solidFill>
                  <a:srgbClr val="1F2933"/>
                </a:solidFill>
                <a:latin typeface="Yu Gothic"/>
                <a:ea typeface="Yu Gothic"/>
                <a:cs typeface="Yu Gothic"/>
              </a:rPr>
              <a:t>Bastion 不是必需组件</a:t>
            </a:r>
          </a:p>
        </p:txBody>
      </p:sp>
      <p:sp>
        <p:nvSpPr>
          <p:cNvPr id="15" name="">
            <a:extLst xmlns:a="http://schemas.openxmlformats.org/drawingml/2006/main">
              <a:ext uri="{FF2B5EF4-FFF2-40B4-BE49-F238E27FC236}">
                <a16:creationId xmlns:a16="http://schemas.microsoft.com/office/drawing/2014/main" id="{24B22170-0CEF-486A-8F62-A918A89287D3}"/>
              </a:ext>
            </a:extLst>
          </p:cNvPr>
          <p:cNvSpPr>
            <a:spLocks xmlns:a="http://schemas.openxmlformats.org/drawingml/2006/main" noGrp="1"/>
          </p:cNvSpPr>
          <p:nvPr/>
        </p:nvSpPr>
        <p:spPr>
          <a:xfrm xmlns:a="http://schemas.openxmlformats.org/drawingml/2006/main">
            <a:off x="1238250" y="284797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7475"/>
          </a:bodyPr>
          <a:lstStyle xmlns:a="http://schemas.openxmlformats.org/drawingml/2006/main"/>
          <a:p xmlns:a="http://schemas.openxmlformats.org/drawingml/2006/main">
            <a:pPr algn="l">
              <a:defRPr sz="750" b="0">
                <a:solidFill>
                  <a:srgbClr val="65717C"/>
                </a:solidFill>
                <a:latin typeface="Yu Gothic"/>
                <a:ea typeface="Yu Gothic"/>
                <a:cs typeface="Yu Gothic"/>
              </a:defRPr>
            </a:pPr>
            <a:r>
              <a:rPr sz="750" b="0">
                <a:solidFill>
                  <a:srgbClr val="65717C"/>
                </a:solidFill>
                <a:latin typeface="Yu Gothic"/>
                <a:ea typeface="Yu Gothic"/>
                <a:cs typeface="Yu Gothic"/>
              </a:rPr>
              <a:t>只有需要安全登录 VM 时才保留。没有 Bastion 也可以通过 VPN、Jump Host 或其他受控管理路径操作。</a:t>
            </a:r>
          </a:p>
        </p:txBody>
      </p:sp>
      <p:sp>
        <p:nvSpPr>
          <p:cNvPr id="16" name="">
            <a:extLst xmlns:a="http://schemas.openxmlformats.org/drawingml/2006/main">
              <a:ext uri="{FF2B5EF4-FFF2-40B4-BE49-F238E27FC236}">
                <a16:creationId xmlns:a16="http://schemas.microsoft.com/office/drawing/2014/main" id="{2C3BEDA8-57DC-434A-99A7-9FF0A3034DBC}"/>
              </a:ext>
            </a:extLst>
          </p:cNvPr>
          <p:cNvSpPr>
            <a:spLocks xmlns:a="http://schemas.openxmlformats.org/drawingml/2006/main" noGrp="1"/>
          </p:cNvSpPr>
          <p:nvPr/>
        </p:nvSpPr>
        <p:spPr>
          <a:xfrm xmlns:a="http://schemas.openxmlformats.org/drawingml/2006/main">
            <a:off x="666750" y="3238500"/>
            <a:ext cx="509587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17" name="">
            <a:extLst xmlns:a="http://schemas.openxmlformats.org/drawingml/2006/main">
              <a:ext uri="{FF2B5EF4-FFF2-40B4-BE49-F238E27FC236}">
                <a16:creationId xmlns:a16="http://schemas.microsoft.com/office/drawing/2014/main" id="{BE98F50E-518D-4EA9-B210-394CA1E49FD0}"/>
              </a:ext>
            </a:extLst>
          </p:cNvPr>
          <p:cNvSpPr>
            <a:spLocks xmlns:a="http://schemas.openxmlformats.org/drawingml/2006/main" noGrp="1"/>
          </p:cNvSpPr>
          <p:nvPr/>
        </p:nvSpPr>
        <p:spPr>
          <a:xfrm xmlns:a="http://schemas.openxmlformats.org/drawingml/2006/main">
            <a:off x="800100" y="3390900"/>
            <a:ext cx="285750" cy="285750"/>
          </a:xfrm>
          <a:prstGeom xmlns:a="http://schemas.openxmlformats.org/drawingml/2006/main" prst="ellipse">
            <a:avLst/>
          </a:prstGeom>
          <a:solidFill xmlns:a="http://schemas.openxmlformats.org/drawingml/2006/main">
            <a:srgbClr val="B91C2B"/>
          </a:solidFill>
          <a:ln xmlns:a="http://schemas.openxmlformats.org/drawingml/2006/main" w="0">
            <a:solidFill>
              <a:srgbClr val="B91C2B"/>
            </a:solidFill>
            <a:prstDash val="solid"/>
          </a:ln>
        </p:spPr>
      </p:sp>
      <p:sp>
        <p:nvSpPr>
          <p:cNvPr id="18" name="">
            <a:extLst xmlns:a="http://schemas.openxmlformats.org/drawingml/2006/main">
              <a:ext uri="{FF2B5EF4-FFF2-40B4-BE49-F238E27FC236}">
                <a16:creationId xmlns:a16="http://schemas.microsoft.com/office/drawing/2014/main" id="{3ED41315-8BA4-4D2B-925B-984B4D4FB632}"/>
              </a:ext>
            </a:extLst>
          </p:cNvPr>
          <p:cNvSpPr>
            <a:spLocks xmlns:a="http://schemas.openxmlformats.org/drawingml/2006/main" noGrp="1"/>
          </p:cNvSpPr>
          <p:nvPr/>
        </p:nvSpPr>
        <p:spPr>
          <a:xfrm xmlns:a="http://schemas.openxmlformats.org/drawingml/2006/main">
            <a:off x="800100" y="33909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3</a:t>
            </a:r>
          </a:p>
        </p:txBody>
      </p:sp>
      <p:sp>
        <p:nvSpPr>
          <p:cNvPr id="19" name="">
            <a:extLst xmlns:a="http://schemas.openxmlformats.org/drawingml/2006/main">
              <a:ext uri="{FF2B5EF4-FFF2-40B4-BE49-F238E27FC236}">
                <a16:creationId xmlns:a16="http://schemas.microsoft.com/office/drawing/2014/main" id="{2E250975-47F1-4227-8D35-82319630B08A}"/>
              </a:ext>
            </a:extLst>
          </p:cNvPr>
          <p:cNvSpPr>
            <a:spLocks xmlns:a="http://schemas.openxmlformats.org/drawingml/2006/main" noGrp="1"/>
          </p:cNvSpPr>
          <p:nvPr/>
        </p:nvSpPr>
        <p:spPr>
          <a:xfrm xmlns:a="http://schemas.openxmlformats.org/drawingml/2006/main">
            <a:off x="1238250" y="3333750"/>
            <a:ext cx="438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1F2933"/>
                </a:solidFill>
                <a:latin typeface="Yu Gothic"/>
                <a:ea typeface="Yu Gothic"/>
                <a:cs typeface="Yu Gothic"/>
              </a:defRPr>
            </a:pPr>
            <a:r>
              <a:rPr sz="1200" b="1">
                <a:solidFill>
                  <a:srgbClr val="1F2933"/>
                </a:solidFill>
                <a:latin typeface="Yu Gothic"/>
                <a:ea typeface="Yu Gothic"/>
                <a:cs typeface="Yu Gothic"/>
              </a:rPr>
              <a:t>MID Server 不需要公网 IP</a:t>
            </a:r>
          </a:p>
        </p:txBody>
      </p:sp>
      <p:sp>
        <p:nvSpPr>
          <p:cNvPr id="20" name="">
            <a:extLst xmlns:a="http://schemas.openxmlformats.org/drawingml/2006/main">
              <a:ext uri="{FF2B5EF4-FFF2-40B4-BE49-F238E27FC236}">
                <a16:creationId xmlns:a16="http://schemas.microsoft.com/office/drawing/2014/main" id="{B6541EF2-9E68-49B6-8F18-874CF0170A95}"/>
              </a:ext>
            </a:extLst>
          </p:cNvPr>
          <p:cNvSpPr>
            <a:spLocks xmlns:a="http://schemas.openxmlformats.org/drawingml/2006/main" noGrp="1"/>
          </p:cNvSpPr>
          <p:nvPr/>
        </p:nvSpPr>
        <p:spPr>
          <a:xfrm xmlns:a="http://schemas.openxmlformats.org/drawingml/2006/main">
            <a:off x="1238250" y="35623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0875"/>
          </a:bodyPr>
          <a:lstStyle xmlns:a="http://schemas.openxmlformats.org/drawingml/2006/main"/>
          <a:p xmlns:a="http://schemas.openxmlformats.org/drawingml/2006/main">
            <a:pPr algn="l">
              <a:defRPr sz="750" b="0">
                <a:solidFill>
                  <a:srgbClr val="65717C"/>
                </a:solidFill>
                <a:latin typeface="Yu Gothic"/>
                <a:ea typeface="Yu Gothic"/>
                <a:cs typeface="Yu Gothic"/>
              </a:defRPr>
            </a:pPr>
            <a:r>
              <a:rPr sz="750" b="0">
                <a:solidFill>
                  <a:srgbClr val="65717C"/>
                </a:solidFill>
                <a:latin typeface="Yu Gothic"/>
                <a:ea typeface="Yu Gothic"/>
                <a:cs typeface="Yu Gothic"/>
              </a:rPr>
              <a:t>图中“internet”表示出站路径，不代表 MID Server 必须暴露到互联网。推荐 NAT Gateway 或其他明确出站方式。</a:t>
            </a:r>
          </a:p>
        </p:txBody>
      </p:sp>
      <p:sp>
        <p:nvSpPr>
          <p:cNvPr id="21" name="">
            <a:extLst xmlns:a="http://schemas.openxmlformats.org/drawingml/2006/main">
              <a:ext uri="{FF2B5EF4-FFF2-40B4-BE49-F238E27FC236}">
                <a16:creationId xmlns:a16="http://schemas.microsoft.com/office/drawing/2014/main" id="{A94F40B0-164A-470A-A606-63B03E1C0502}"/>
              </a:ext>
            </a:extLst>
          </p:cNvPr>
          <p:cNvSpPr>
            <a:spLocks xmlns:a="http://schemas.openxmlformats.org/drawingml/2006/main" noGrp="1"/>
          </p:cNvSpPr>
          <p:nvPr/>
        </p:nvSpPr>
        <p:spPr>
          <a:xfrm xmlns:a="http://schemas.openxmlformats.org/drawingml/2006/main">
            <a:off x="666750" y="3952875"/>
            <a:ext cx="509587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22" name="">
            <a:extLst xmlns:a="http://schemas.openxmlformats.org/drawingml/2006/main">
              <a:ext uri="{FF2B5EF4-FFF2-40B4-BE49-F238E27FC236}">
                <a16:creationId xmlns:a16="http://schemas.microsoft.com/office/drawing/2014/main" id="{BA846D53-2C64-481D-84DE-CF82AEC5A04C}"/>
              </a:ext>
            </a:extLst>
          </p:cNvPr>
          <p:cNvSpPr>
            <a:spLocks xmlns:a="http://schemas.openxmlformats.org/drawingml/2006/main" noGrp="1"/>
          </p:cNvSpPr>
          <p:nvPr/>
        </p:nvSpPr>
        <p:spPr>
          <a:xfrm xmlns:a="http://schemas.openxmlformats.org/drawingml/2006/main">
            <a:off x="800100" y="4105275"/>
            <a:ext cx="285750" cy="285750"/>
          </a:xfrm>
          <a:prstGeom xmlns:a="http://schemas.openxmlformats.org/drawingml/2006/main" prst="ellipse">
            <a:avLst/>
          </a:prstGeom>
          <a:solidFill xmlns:a="http://schemas.openxmlformats.org/drawingml/2006/main">
            <a:srgbClr val="D28A00"/>
          </a:solidFill>
          <a:ln xmlns:a="http://schemas.openxmlformats.org/drawingml/2006/main" w="0">
            <a:solidFill>
              <a:srgbClr val="D28A00"/>
            </a:solidFill>
            <a:prstDash val="solid"/>
          </a:ln>
        </p:spPr>
      </p:sp>
      <p:sp>
        <p:nvSpPr>
          <p:cNvPr id="23" name="">
            <a:extLst xmlns:a="http://schemas.openxmlformats.org/drawingml/2006/main">
              <a:ext uri="{FF2B5EF4-FFF2-40B4-BE49-F238E27FC236}">
                <a16:creationId xmlns:a16="http://schemas.microsoft.com/office/drawing/2014/main" id="{6F8D93E4-0F99-4BB1-9A50-2F01C7D1BC81}"/>
              </a:ext>
            </a:extLst>
          </p:cNvPr>
          <p:cNvSpPr>
            <a:spLocks xmlns:a="http://schemas.openxmlformats.org/drawingml/2006/main" noGrp="1"/>
          </p:cNvSpPr>
          <p:nvPr/>
        </p:nvSpPr>
        <p:spPr>
          <a:xfrm xmlns:a="http://schemas.openxmlformats.org/drawingml/2006/main">
            <a:off x="800100" y="41052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4</a:t>
            </a:r>
          </a:p>
        </p:txBody>
      </p:sp>
      <p:sp>
        <p:nvSpPr>
          <p:cNvPr id="24" name="">
            <a:extLst xmlns:a="http://schemas.openxmlformats.org/drawingml/2006/main">
              <a:ext uri="{FF2B5EF4-FFF2-40B4-BE49-F238E27FC236}">
                <a16:creationId xmlns:a16="http://schemas.microsoft.com/office/drawing/2014/main" id="{19953DC1-AABB-4636-955E-5A7C9FA1D5BC}"/>
              </a:ext>
            </a:extLst>
          </p:cNvPr>
          <p:cNvSpPr>
            <a:spLocks xmlns:a="http://schemas.openxmlformats.org/drawingml/2006/main" noGrp="1"/>
          </p:cNvSpPr>
          <p:nvPr/>
        </p:nvSpPr>
        <p:spPr>
          <a:xfrm xmlns:a="http://schemas.openxmlformats.org/drawingml/2006/main">
            <a:off x="1238250" y="4048125"/>
            <a:ext cx="438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1F2933"/>
                </a:solidFill>
                <a:latin typeface="Yu Gothic"/>
                <a:ea typeface="Yu Gothic"/>
                <a:cs typeface="Yu Gothic"/>
              </a:defRPr>
            </a:pPr>
            <a:r>
              <a:rPr sz="1200" b="1">
                <a:solidFill>
                  <a:srgbClr val="1F2933"/>
                </a:solidFill>
                <a:latin typeface="Yu Gothic"/>
                <a:ea typeface="Yu Gothic"/>
                <a:cs typeface="Yu Gothic"/>
              </a:rPr>
              <a:t>必须补充 NSG 与出站控制</a:t>
            </a:r>
          </a:p>
        </p:txBody>
      </p:sp>
      <p:sp>
        <p:nvSpPr>
          <p:cNvPr id="25" name="">
            <a:extLst xmlns:a="http://schemas.openxmlformats.org/drawingml/2006/main">
              <a:ext uri="{FF2B5EF4-FFF2-40B4-BE49-F238E27FC236}">
                <a16:creationId xmlns:a16="http://schemas.microsoft.com/office/drawing/2014/main" id="{8F0645E4-E9AF-4C39-BA7D-46E6A92E6006}"/>
              </a:ext>
            </a:extLst>
          </p:cNvPr>
          <p:cNvSpPr>
            <a:spLocks xmlns:a="http://schemas.openxmlformats.org/drawingml/2006/main" noGrp="1"/>
          </p:cNvSpPr>
          <p:nvPr/>
        </p:nvSpPr>
        <p:spPr>
          <a:xfrm xmlns:a="http://schemas.openxmlformats.org/drawingml/2006/main">
            <a:off x="1238250" y="42767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750" b="0">
                <a:solidFill>
                  <a:srgbClr val="65717C"/>
                </a:solidFill>
                <a:latin typeface="Yu Gothic"/>
                <a:ea typeface="Yu Gothic"/>
                <a:cs typeface="Yu Gothic"/>
              </a:defRPr>
            </a:pPr>
            <a:r>
              <a:rPr sz="750" b="0">
                <a:solidFill>
                  <a:srgbClr val="65717C"/>
                </a:solidFill>
                <a:latin typeface="Yu Gothic"/>
                <a:ea typeface="Yu Gothic"/>
                <a:cs typeface="Yu Gothic"/>
              </a:rPr>
              <a:t>至少确认 TCP 443 到 ServiceNow；如做 Discovery，再按 Linux / Windows 目标补充对应端口。</a:t>
            </a:r>
          </a:p>
        </p:txBody>
      </p:sp>
      <p:sp>
        <p:nvSpPr>
          <p:cNvPr id="26" name="">
            <a:extLst xmlns:a="http://schemas.openxmlformats.org/drawingml/2006/main">
              <a:ext uri="{FF2B5EF4-FFF2-40B4-BE49-F238E27FC236}">
                <a16:creationId xmlns:a16="http://schemas.microsoft.com/office/drawing/2014/main" id="{F56C39FF-043B-48C5-B8F6-9AFE33419134}"/>
              </a:ext>
            </a:extLst>
          </p:cNvPr>
          <p:cNvSpPr>
            <a:spLocks xmlns:a="http://schemas.openxmlformats.org/drawingml/2006/main" noGrp="1"/>
          </p:cNvSpPr>
          <p:nvPr/>
        </p:nvSpPr>
        <p:spPr>
          <a:xfrm xmlns:a="http://schemas.openxmlformats.org/drawingml/2006/main">
            <a:off x="666750" y="4667250"/>
            <a:ext cx="509587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5CCD2"/>
            </a:solidFill>
            <a:prstDash val="solid"/>
          </a:ln>
        </p:spPr>
      </p:sp>
      <p:sp>
        <p:nvSpPr>
          <p:cNvPr id="27" name="">
            <a:extLst xmlns:a="http://schemas.openxmlformats.org/drawingml/2006/main">
              <a:ext uri="{FF2B5EF4-FFF2-40B4-BE49-F238E27FC236}">
                <a16:creationId xmlns:a16="http://schemas.microsoft.com/office/drawing/2014/main" id="{4EA3F217-1C2E-4C96-9F8D-33FF87FAE46F}"/>
              </a:ext>
            </a:extLst>
          </p:cNvPr>
          <p:cNvSpPr>
            <a:spLocks xmlns:a="http://schemas.openxmlformats.org/drawingml/2006/main" noGrp="1"/>
          </p:cNvSpPr>
          <p:nvPr/>
        </p:nvSpPr>
        <p:spPr>
          <a:xfrm xmlns:a="http://schemas.openxmlformats.org/drawingml/2006/main">
            <a:off x="800100" y="4819650"/>
            <a:ext cx="285750" cy="285750"/>
          </a:xfrm>
          <a:prstGeom xmlns:a="http://schemas.openxmlformats.org/drawingml/2006/main" prst="ellipse">
            <a:avLst/>
          </a:prstGeom>
          <a:solidFill xmlns:a="http://schemas.openxmlformats.org/drawingml/2006/main">
            <a:srgbClr val="0057B8"/>
          </a:solidFill>
          <a:ln xmlns:a="http://schemas.openxmlformats.org/drawingml/2006/main" w="0">
            <a:solidFill>
              <a:srgbClr val="0057B8"/>
            </a:solidFill>
            <a:prstDash val="solid"/>
          </a:ln>
        </p:spPr>
      </p:sp>
      <p:sp>
        <p:nvSpPr>
          <p:cNvPr id="28" name="">
            <a:extLst xmlns:a="http://schemas.openxmlformats.org/drawingml/2006/main">
              <a:ext uri="{FF2B5EF4-FFF2-40B4-BE49-F238E27FC236}">
                <a16:creationId xmlns:a16="http://schemas.microsoft.com/office/drawing/2014/main" id="{6D5F1EDE-5EBF-4745-9A25-6284A5247002}"/>
              </a:ext>
            </a:extLst>
          </p:cNvPr>
          <p:cNvSpPr>
            <a:spLocks xmlns:a="http://schemas.openxmlformats.org/drawingml/2006/main" noGrp="1"/>
          </p:cNvSpPr>
          <p:nvPr/>
        </p:nvSpPr>
        <p:spPr>
          <a:xfrm xmlns:a="http://schemas.openxmlformats.org/drawingml/2006/main">
            <a:off x="800100" y="48196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5</a:t>
            </a:r>
          </a:p>
        </p:txBody>
      </p:sp>
      <p:sp>
        <p:nvSpPr>
          <p:cNvPr id="29" name="">
            <a:extLst xmlns:a="http://schemas.openxmlformats.org/drawingml/2006/main">
              <a:ext uri="{FF2B5EF4-FFF2-40B4-BE49-F238E27FC236}">
                <a16:creationId xmlns:a16="http://schemas.microsoft.com/office/drawing/2014/main" id="{0D8A2D15-5DDF-49A4-B80C-D9E317EDA334}"/>
              </a:ext>
            </a:extLst>
          </p:cNvPr>
          <p:cNvSpPr>
            <a:spLocks xmlns:a="http://schemas.openxmlformats.org/drawingml/2006/main" noGrp="1"/>
          </p:cNvSpPr>
          <p:nvPr/>
        </p:nvSpPr>
        <p:spPr>
          <a:xfrm xmlns:a="http://schemas.openxmlformats.org/drawingml/2006/main">
            <a:off x="1238250" y="4762500"/>
            <a:ext cx="438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00" b="1">
                <a:solidFill>
                  <a:srgbClr val="1F2933"/>
                </a:solidFill>
                <a:latin typeface="Yu Gothic"/>
                <a:ea typeface="Yu Gothic"/>
                <a:cs typeface="Yu Gothic"/>
              </a:defRPr>
            </a:pPr>
            <a:r>
              <a:rPr sz="1200" b="1">
                <a:solidFill>
                  <a:srgbClr val="1F2933"/>
                </a:solidFill>
                <a:latin typeface="Yu Gothic"/>
                <a:ea typeface="Yu Gothic"/>
                <a:cs typeface="Yu Gothic"/>
              </a:rPr>
              <a:t>两台 MID Server 要在实例中分别注册</a:t>
            </a:r>
          </a:p>
        </p:txBody>
      </p:sp>
      <p:sp>
        <p:nvSpPr>
          <p:cNvPr id="30" name="">
            <a:extLst xmlns:a="http://schemas.openxmlformats.org/drawingml/2006/main">
              <a:ext uri="{FF2B5EF4-FFF2-40B4-BE49-F238E27FC236}">
                <a16:creationId xmlns:a16="http://schemas.microsoft.com/office/drawing/2014/main" id="{66957628-3964-4A53-A2BC-A2E14B4163D6}"/>
              </a:ext>
            </a:extLst>
          </p:cNvPr>
          <p:cNvSpPr>
            <a:spLocks xmlns:a="http://schemas.openxmlformats.org/drawingml/2006/main" noGrp="1"/>
          </p:cNvSpPr>
          <p:nvPr/>
        </p:nvSpPr>
        <p:spPr>
          <a:xfrm xmlns:a="http://schemas.openxmlformats.org/drawingml/2006/main">
            <a:off x="1238250" y="499110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750" b="0">
                <a:solidFill>
                  <a:srgbClr val="65717C"/>
                </a:solidFill>
                <a:latin typeface="Yu Gothic"/>
                <a:ea typeface="Yu Gothic"/>
                <a:cs typeface="Yu Gothic"/>
              </a:defRPr>
            </a:pPr>
            <a:r>
              <a:rPr sz="750" b="0">
                <a:solidFill>
                  <a:srgbClr val="65717C"/>
                </a:solidFill>
                <a:latin typeface="Yu Gothic"/>
                <a:ea typeface="Yu Gothic"/>
                <a:cs typeface="Yu Gothic"/>
              </a:rPr>
              <a:t>分别使用独立 MID Server 名称和服务，按需要配置 Cluster / Load Balancing / Failover。</a:t>
            </a:r>
          </a:p>
        </p:txBody>
      </p:sp>
      <p:sp>
        <p:nvSpPr>
          <p:cNvPr id="31" name="">
            <a:extLst xmlns:a="http://schemas.openxmlformats.org/drawingml/2006/main">
              <a:ext uri="{FF2B5EF4-FFF2-40B4-BE49-F238E27FC236}">
                <a16:creationId xmlns:a16="http://schemas.microsoft.com/office/drawing/2014/main" id="{F7BEC7E5-64AB-4292-8512-DA1376BB3E18}"/>
              </a:ext>
            </a:extLst>
          </p:cNvPr>
          <p:cNvSpPr>
            <a:spLocks xmlns:a="http://schemas.openxmlformats.org/drawingml/2006/main" noGrp="1"/>
          </p:cNvSpPr>
          <p:nvPr/>
        </p:nvSpPr>
        <p:spPr>
          <a:xfrm xmlns:a="http://schemas.openxmlformats.org/drawingml/2006/main">
            <a:off x="6286500" y="1809750"/>
            <a:ext cx="5095875" cy="2047875"/>
          </a:xfrm>
          <a:prstGeom xmlns:a="http://schemas.openxmlformats.org/drawingml/2006/main" prst="rect">
            <a:avLst/>
          </a:prstGeom>
          <a:solidFill xmlns:a="http://schemas.openxmlformats.org/drawingml/2006/main">
            <a:srgbClr val="EAF3FA"/>
          </a:solidFill>
          <a:ln xmlns:a="http://schemas.openxmlformats.org/drawingml/2006/main" w="11430">
            <a:solidFill>
              <a:srgbClr val="0057B8"/>
            </a:solidFill>
            <a:prstDash val="solid"/>
          </a:ln>
        </p:spPr>
      </p:sp>
      <p:sp>
        <p:nvSpPr>
          <p:cNvPr id="32" name="">
            <a:extLst xmlns:a="http://schemas.openxmlformats.org/drawingml/2006/main">
              <a:ext uri="{FF2B5EF4-FFF2-40B4-BE49-F238E27FC236}">
                <a16:creationId xmlns:a16="http://schemas.microsoft.com/office/drawing/2014/main" id="{70F1371B-BBB5-4511-B5D0-777A818677B4}"/>
              </a:ext>
            </a:extLst>
          </p:cNvPr>
          <p:cNvSpPr>
            <a:spLocks xmlns:a="http://schemas.openxmlformats.org/drawingml/2006/main" noGrp="1"/>
          </p:cNvSpPr>
          <p:nvPr/>
        </p:nvSpPr>
        <p:spPr>
          <a:xfrm xmlns:a="http://schemas.openxmlformats.org/drawingml/2006/main">
            <a:off x="6553200" y="1981200"/>
            <a:ext cx="452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102A43"/>
                </a:solidFill>
                <a:latin typeface="Yu Gothic"/>
                <a:ea typeface="Yu Gothic"/>
                <a:cs typeface="Yu Gothic"/>
              </a:defRPr>
            </a:pPr>
            <a:r>
              <a:rPr sz="1425" b="1">
                <a:solidFill>
                  <a:srgbClr val="102A43"/>
                </a:solidFill>
                <a:latin typeface="Yu Gothic"/>
                <a:ea typeface="Yu Gothic"/>
                <a:cs typeface="Yu Gothic"/>
              </a:rPr>
              <a:t>个人账户 PoC 的建议最小配置</a:t>
            </a:r>
          </a:p>
        </p:txBody>
      </p:sp>
      <p:sp>
        <p:nvSpPr>
          <p:cNvPr id="33" name="">
            <a:extLst xmlns:a="http://schemas.openxmlformats.org/drawingml/2006/main">
              <a:ext uri="{FF2B5EF4-FFF2-40B4-BE49-F238E27FC236}">
                <a16:creationId xmlns:a16="http://schemas.microsoft.com/office/drawing/2014/main" id="{AC7AE2E2-D208-40F9-BD13-D79EAFA8DA0E}"/>
              </a:ext>
            </a:extLst>
          </p:cNvPr>
          <p:cNvSpPr>
            <a:spLocks xmlns:a="http://schemas.openxmlformats.org/drawingml/2006/main" noGrp="1"/>
          </p:cNvSpPr>
          <p:nvPr/>
        </p:nvSpPr>
        <p:spPr>
          <a:xfrm xmlns:a="http://schemas.openxmlformats.org/drawingml/2006/main">
            <a:off x="6572250" y="2381250"/>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050" b="0">
                <a:solidFill>
                  <a:srgbClr val="1F2933"/>
                </a:solidFill>
                <a:latin typeface="Yu Gothic"/>
                <a:ea typeface="Yu Gothic"/>
                <a:cs typeface="Yu Gothic"/>
              </a:defRPr>
            </a:pPr>
            <a:r>
              <a:rPr sz="1050" b="0">
                <a:solidFill>
                  <a:srgbClr val="1F2933"/>
                </a:solidFill>
                <a:latin typeface="Yu Gothic"/>
                <a:ea typeface="Yu Gothic"/>
                <a:cs typeface="Yu Gothic"/>
              </a:rPr>
              <a:t>• Azure Subscription / Resource Group</a:t>
            </a:r>
          </a:p>
          <a:p xmlns:a="http://schemas.openxmlformats.org/drawingml/2006/main">
            <a:pPr algn="l">
              <a:defRPr sz="1050" b="0">
                <a:solidFill>
                  <a:srgbClr val="1F2933"/>
                </a:solidFill>
                <a:latin typeface="Yu Gothic"/>
                <a:ea typeface="Yu Gothic"/>
                <a:cs typeface="Yu Gothic"/>
              </a:defRPr>
            </a:pPr>
            <a:r>
              <a:rPr sz="1050" b="0">
                <a:solidFill>
                  <a:srgbClr val="1F2933"/>
                </a:solidFill>
                <a:latin typeface="Yu Gothic"/>
                <a:ea typeface="Yu Gothic"/>
                <a:cs typeface="Yu Gothic"/>
              </a:rPr>
              <a:t>• 1 VNet + 1 MID Server subnet</a:t>
            </a:r>
          </a:p>
          <a:p xmlns:a="http://schemas.openxmlformats.org/drawingml/2006/main">
            <a:pPr algn="l">
              <a:defRPr sz="1050" b="0">
                <a:solidFill>
                  <a:srgbClr val="1F2933"/>
                </a:solidFill>
                <a:latin typeface="Yu Gothic"/>
                <a:ea typeface="Yu Gothic"/>
                <a:cs typeface="Yu Gothic"/>
              </a:defRPr>
            </a:pPr>
            <a:r>
              <a:rPr sz="1050" b="0">
                <a:solidFill>
                  <a:srgbClr val="1F2933"/>
                </a:solidFill>
                <a:latin typeface="Yu Gothic"/>
                <a:ea typeface="Yu Gothic"/>
                <a:cs typeface="Yu Gothic"/>
              </a:rPr>
              <a:t>• 2 台 MID Server VM</a:t>
            </a:r>
          </a:p>
          <a:p xmlns:a="http://schemas.openxmlformats.org/drawingml/2006/main">
            <a:pPr algn="l">
              <a:defRPr sz="1050" b="0">
                <a:solidFill>
                  <a:srgbClr val="1F2933"/>
                </a:solidFill>
                <a:latin typeface="Yu Gothic"/>
                <a:ea typeface="Yu Gothic"/>
                <a:cs typeface="Yu Gothic"/>
              </a:defRPr>
            </a:pPr>
            <a:r>
              <a:rPr sz="1050" b="0">
                <a:solidFill>
                  <a:srgbClr val="1F2933"/>
                </a:solidFill>
                <a:latin typeface="Yu Gothic"/>
                <a:ea typeface="Yu Gothic"/>
                <a:cs typeface="Yu Gothic"/>
              </a:rPr>
              <a:t>• NSG + 明确出站 TCP 443</a:t>
            </a:r>
          </a:p>
          <a:p xmlns:a="http://schemas.openxmlformats.org/drawingml/2006/main">
            <a:pPr algn="l">
              <a:defRPr sz="1050" b="0">
                <a:solidFill>
                  <a:srgbClr val="1F2933"/>
                </a:solidFill>
                <a:latin typeface="Yu Gothic"/>
                <a:ea typeface="Yu Gothic"/>
                <a:cs typeface="Yu Gothic"/>
              </a:defRPr>
            </a:pPr>
            <a:r>
              <a:rPr sz="1050" b="0">
                <a:solidFill>
                  <a:srgbClr val="1F2933"/>
                </a:solidFill>
                <a:latin typeface="Yu Gothic"/>
                <a:ea typeface="Yu Gothic"/>
                <a:cs typeface="Yu Gothic"/>
              </a:rPr>
              <a:t>• Bastion：按管理需要启用</a:t>
            </a:r>
          </a:p>
          <a:p xmlns:a="http://schemas.openxmlformats.org/drawingml/2006/main">
            <a:pPr algn="l">
              <a:defRPr sz="1050" b="0">
                <a:solidFill>
                  <a:srgbClr val="1F2933"/>
                </a:solidFill>
                <a:latin typeface="Yu Gothic"/>
                <a:ea typeface="Yu Gothic"/>
                <a:cs typeface="Yu Gothic"/>
              </a:defRPr>
            </a:pPr>
            <a:r>
              <a:rPr sz="1050" b="0">
                <a:solidFill>
                  <a:srgbClr val="1F2933"/>
                </a:solidFill>
                <a:latin typeface="Yu Gothic"/>
                <a:ea typeface="Yu Gothic"/>
                <a:cs typeface="Yu Gothic"/>
              </a:rPr>
              <a:t>• ServiceNow：注册并验证 MID Server 状态</a:t>
            </a:r>
          </a:p>
        </p:txBody>
      </p:sp>
      <p:sp>
        <p:nvSpPr>
          <p:cNvPr id="34" name="">
            <a:extLst xmlns:a="http://schemas.openxmlformats.org/drawingml/2006/main">
              <a:ext uri="{FF2B5EF4-FFF2-40B4-BE49-F238E27FC236}">
                <a16:creationId xmlns:a16="http://schemas.microsoft.com/office/drawing/2014/main" id="{E9DE6E12-C7B2-4BBA-869B-8EE74EF4B678}"/>
              </a:ext>
            </a:extLst>
          </p:cNvPr>
          <p:cNvSpPr>
            <a:spLocks xmlns:a="http://schemas.openxmlformats.org/drawingml/2006/main" noGrp="1"/>
          </p:cNvSpPr>
          <p:nvPr/>
        </p:nvSpPr>
        <p:spPr>
          <a:xfrm xmlns:a="http://schemas.openxmlformats.org/drawingml/2006/main">
            <a:off x="6286500" y="4095750"/>
            <a:ext cx="5095875" cy="1428750"/>
          </a:xfrm>
          <a:prstGeom xmlns:a="http://schemas.openxmlformats.org/drawingml/2006/main" prst="rect">
            <a:avLst/>
          </a:prstGeom>
          <a:solidFill xmlns:a="http://schemas.openxmlformats.org/drawingml/2006/main">
            <a:srgbClr val="EAF7F0"/>
          </a:solidFill>
          <a:ln xmlns:a="http://schemas.openxmlformats.org/drawingml/2006/main" w="11430">
            <a:solidFill>
              <a:srgbClr val="087A4B"/>
            </a:solidFill>
            <a:prstDash val="solid"/>
          </a:ln>
        </p:spPr>
      </p:sp>
      <p:sp>
        <p:nvSpPr>
          <p:cNvPr id="35" name="">
            <a:extLst xmlns:a="http://schemas.openxmlformats.org/drawingml/2006/main">
              <a:ext uri="{FF2B5EF4-FFF2-40B4-BE49-F238E27FC236}">
                <a16:creationId xmlns:a16="http://schemas.microsoft.com/office/drawing/2014/main" id="{D0CCC511-EFC7-44FC-BA21-7D6B0AB84333}"/>
              </a:ext>
            </a:extLst>
          </p:cNvPr>
          <p:cNvSpPr>
            <a:spLocks xmlns:a="http://schemas.openxmlformats.org/drawingml/2006/main" noGrp="1"/>
          </p:cNvSpPr>
          <p:nvPr/>
        </p:nvSpPr>
        <p:spPr>
          <a:xfrm xmlns:a="http://schemas.openxmlformats.org/drawingml/2006/main">
            <a:off x="6553200" y="4267200"/>
            <a:ext cx="4524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087A4B"/>
                </a:solidFill>
                <a:latin typeface="Yu Gothic"/>
                <a:ea typeface="Yu Gothic"/>
                <a:cs typeface="Yu Gothic"/>
              </a:defRPr>
            </a:pPr>
            <a:r>
              <a:rPr sz="1350" b="1">
                <a:solidFill>
                  <a:srgbClr val="087A4B"/>
                </a:solidFill>
                <a:latin typeface="Yu Gothic"/>
                <a:ea typeface="Yu Gothic"/>
                <a:cs typeface="Yu Gothic"/>
              </a:rPr>
              <a:t>不需要一开始加入的组件</a:t>
            </a:r>
          </a:p>
        </p:txBody>
      </p:sp>
      <p:sp>
        <p:nvSpPr>
          <p:cNvPr id="36" name="">
            <a:extLst xmlns:a="http://schemas.openxmlformats.org/drawingml/2006/main">
              <a:ext uri="{FF2B5EF4-FFF2-40B4-BE49-F238E27FC236}">
                <a16:creationId xmlns:a16="http://schemas.microsoft.com/office/drawing/2014/main" id="{1CE6DB3D-9049-4D9B-81AD-7B8EF39AD040}"/>
              </a:ext>
            </a:extLst>
          </p:cNvPr>
          <p:cNvSpPr>
            <a:spLocks xmlns:a="http://schemas.openxmlformats.org/drawingml/2006/main" noGrp="1"/>
          </p:cNvSpPr>
          <p:nvPr/>
        </p:nvSpPr>
        <p:spPr>
          <a:xfrm xmlns:a="http://schemas.openxmlformats.org/drawingml/2006/main">
            <a:off x="6572250" y="4638675"/>
            <a:ext cx="4524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975" b="0">
                <a:solidFill>
                  <a:srgbClr val="1F2933"/>
                </a:solidFill>
                <a:latin typeface="Yu Gothic"/>
                <a:ea typeface="Yu Gothic"/>
                <a:cs typeface="Yu Gothic"/>
              </a:defRPr>
            </a:pPr>
            <a:r>
              <a:rPr sz="975" b="0">
                <a:solidFill>
                  <a:srgbClr val="1F2933"/>
                </a:solidFill>
                <a:latin typeface="Yu Gothic"/>
                <a:ea typeface="Yu Gothic"/>
                <a:cs typeface="Yu Gothic"/>
              </a:rPr>
              <a:t>GWAN / ExpressRoute / 企业级 Azure Firewall / Private Endpoint / 复杂 Route Table</a:t>
            </a:r>
          </a:p>
          <a:p xmlns:a="http://schemas.openxmlformats.org/drawingml/2006/main">
            <a:pPr algn="l">
              <a:defRPr sz="975" b="0">
                <a:solidFill>
                  <a:srgbClr val="1F2933"/>
                </a:solidFill>
                <a:latin typeface="Yu Gothic"/>
                <a:ea typeface="Yu Gothic"/>
                <a:cs typeface="Yu Gothic"/>
              </a:defRPr>
            </a:pPr>
            <a:r>
              <a:rPr sz="975" b="0">
                <a:solidFill>
                  <a:srgbClr val="1F2933"/>
                </a:solidFill>
                <a:latin typeface="Yu Gothic"/>
                <a:ea typeface="Yu Gothic"/>
                <a:cs typeface="Yu Gothic"/>
              </a:rPr>
              <a:t>只有当公司网络、固定出口、私网接続、監査要件或大規模 Discovery 需要时再追加。</a:t>
            </a:r>
          </a:p>
        </p:txBody>
      </p:sp>
      <p:sp>
        <p:nvSpPr>
          <p:cNvPr id="37" name="">
            <a:extLst xmlns:a="http://schemas.openxmlformats.org/drawingml/2006/main">
              <a:ext uri="{FF2B5EF4-FFF2-40B4-BE49-F238E27FC236}">
                <a16:creationId xmlns:a16="http://schemas.microsoft.com/office/drawing/2014/main" id="{DD584474-82B5-411E-A698-0DCDA13C1735}"/>
              </a:ext>
            </a:extLst>
          </p:cNvPr>
          <p:cNvSpPr>
            <a:spLocks xmlns:a="http://schemas.openxmlformats.org/drawingml/2006/main" noGrp="1"/>
          </p:cNvSpPr>
          <p:nvPr/>
        </p:nvSpPr>
        <p:spPr>
          <a:xfrm xmlns:a="http://schemas.openxmlformats.org/drawingml/2006/main">
            <a:off x="685800" y="6096000"/>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675" b="0">
                <a:solidFill>
                  <a:srgbClr val="65717C"/>
                </a:solidFill>
                <a:latin typeface="Yu Gothic"/>
                <a:ea typeface="Yu Gothic"/>
                <a:cs typeface="Yu Gothic"/>
              </a:defRPr>
            </a:pPr>
            <a:r>
              <a:rPr sz="675" b="0">
                <a:solidFill>
                  <a:srgbClr val="65717C"/>
                </a:solidFill>
                <a:latin typeface="Yu Gothic"/>
                <a:ea typeface="Yu Gothic"/>
                <a:cs typeface="Yu Gothic"/>
              </a:rPr>
              <a:t>官方资料：ServiceNow MID Server system requirements | MID Server connectivity test | Azure Bastion overview | Azure NAT Gateway</a:t>
            </a:r>
          </a:p>
        </p:txBody>
      </p:sp>
    </p:spTree>
    <p:extLst>
      <p:ext uri="{BB962C8B-B14F-4D97-AF65-F5344CB8AC3E}">
        <p14:creationId xmlns:p14="http://schemas.microsoft.com/office/powerpoint/2010/main" val="19459295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2026-09-09T05:33:23.8050000Z</dcterms:created>
  <dcterms:modified xsi:type="dcterms:W3CDTF">2026-09-09T05:33:23.8050000Z</dcterms:modified>
</coreProperties>
</file>